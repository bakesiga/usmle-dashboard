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8229600" cy="10287000"/>
  <p:notesSz cx="10287000" cy="82296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03704"/>
            <a:ext cx="8229600" cy="36576"/>
          </a:xfrm>
          <a:prstGeom prst="rect">
            <a:avLst/>
          </a:prstGeom>
          <a:solidFill>
            <a:srgbClr val="D6E8F5"/>
          </a:solidFill>
          <a:ln w="12700">
            <a:solidFill>
              <a:srgbClr val="D6E8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74320"/>
            <a:ext cx="3337560" cy="329184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74320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SCHEDULE  ·  LIMITED SLOTS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676656"/>
            <a:ext cx="5440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spc="-1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JUNE 1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502920" y="138988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USMLE Step 1</a:t>
            </a:r>
            <a:pPr indent="0" marL="0">
              <a:buNone/>
            </a:pPr>
            <a:r>
              <a:rPr lang="en-US" sz="1800" dirty="0">
                <a:solidFill>
                  <a:srgbClr val="3D5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8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Daily, Mon to Sun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199632" y="128016"/>
            <a:ext cx="1399032" cy="1399032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8" name="Image 0" descr="allan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36208" y="164592"/>
            <a:ext cx="1325880" cy="13258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61888" y="1545336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961888" y="174650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5961888" y="192938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PGY-1 Neurology, Creighton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02920" y="2441448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COVERING IN JUNE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2743200"/>
            <a:ext cx="1005840" cy="0"/>
          </a:xfrm>
          <a:prstGeom prst="line">
            <a:avLst/>
          </a:prstGeom>
          <a:noFill/>
          <a:ln w="25400">
            <a:solidFill>
              <a:srgbClr val="0284C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02920" y="274320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2920" y="2816352"/>
            <a:ext cx="3543300" cy="493776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02920" y="274320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0936" y="279806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30936" y="305409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days  ·  Jun 1 – 10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30936" y="3401568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Orientation, embryology &amp; congenital heart defects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30936" y="3566160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cardiac imaging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30936" y="3730752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output &amp; PV loops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30936" y="3895344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sounds &amp; murmurs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30936" y="4059936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ECG &amp; action potentials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30936" y="4224528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CAD, IHD &amp; myocardial infarction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30936" y="4389120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 &amp; atherosclerosis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30936" y="4553712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 &amp; cardiomyopathies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30936" y="4718304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Endocarditis, myocarditis &amp; vasculitis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30936" y="4882896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pharmacology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183380" y="274320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183380" y="2816352"/>
            <a:ext cx="3543300" cy="49377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183380" y="274320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311396" y="279806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4311396" y="305409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days  ·  Jun 11 – 18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311396" y="340156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Embryology, surfactant &amp; congenital anomalies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4311396" y="360730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muscles of breathing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4311396" y="381304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volumes &amp; ventilation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4311396" y="401878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exchange &amp; V/Q mismatch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4311396" y="422452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of breathing &amp; sleep apnea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4311396" y="443026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Asthma &amp; COPD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4311396" y="463600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Restrictive disease, ARDS, pneumonia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4311396" y="484174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TB, lung cancer &amp; respiratory pharmacology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525780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02920" y="5330952"/>
            <a:ext cx="3543300" cy="49377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02920" y="525780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30936" y="531266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 &amp; BIOSTATS</a:t>
            </a:r>
            <a:endParaRPr lang="en-US" sz="1300" dirty="0"/>
          </a:p>
        </p:txBody>
      </p:sp>
      <p:sp>
        <p:nvSpPr>
          <p:cNvPr id="46" name="Text 43"/>
          <p:cNvSpPr/>
          <p:nvPr/>
        </p:nvSpPr>
        <p:spPr>
          <a:xfrm>
            <a:off x="630936" y="556869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days  ·  Jun 19 – 22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630936" y="5916168"/>
            <a:ext cx="32872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0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designs, evidence &amp; diagnostic testing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630936" y="6327648"/>
            <a:ext cx="32872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0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Quantifying risk, transitions &amp; survival analysis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630936" y="6739128"/>
            <a:ext cx="32872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0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Bias, confounding &amp; effect modification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630936" y="7150608"/>
            <a:ext cx="32872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0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distributions, testing &amp; CIs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4183380" y="525780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4183380" y="5330952"/>
            <a:ext cx="3543300" cy="4937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183380" y="525780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4311396" y="531266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PATHOLOGY</a:t>
            </a:r>
            <a:endParaRPr lang="en-US" sz="1300" dirty="0"/>
          </a:p>
        </p:txBody>
      </p:sp>
      <p:sp>
        <p:nvSpPr>
          <p:cNvPr id="55" name="Text 52"/>
          <p:cNvSpPr/>
          <p:nvPr/>
        </p:nvSpPr>
        <p:spPr>
          <a:xfrm>
            <a:off x="4311396" y="556869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days  ·  Jun 23 – 30</a:t>
            </a:r>
            <a:endParaRPr lang="en-US" sz="1000" dirty="0"/>
          </a:p>
        </p:txBody>
      </p:sp>
      <p:sp>
        <p:nvSpPr>
          <p:cNvPr id="56" name="Text 53"/>
          <p:cNvSpPr/>
          <p:nvPr/>
        </p:nvSpPr>
        <p:spPr>
          <a:xfrm>
            <a:off x="4311396" y="591616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Cellular adaptations &amp; apoptosis</a:t>
            </a:r>
            <a:endParaRPr lang="en-US" sz="1000" dirty="0"/>
          </a:p>
        </p:txBody>
      </p:sp>
      <p:sp>
        <p:nvSpPr>
          <p:cNvPr id="57" name="Text 54"/>
          <p:cNvSpPr/>
          <p:nvPr/>
        </p:nvSpPr>
        <p:spPr>
          <a:xfrm>
            <a:off x="4311396" y="612190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Necrosis, ischemia &amp; free radicals</a:t>
            </a:r>
            <a:endParaRPr lang="en-US" sz="1000" dirty="0"/>
          </a:p>
        </p:txBody>
      </p:sp>
      <p:sp>
        <p:nvSpPr>
          <p:cNvPr id="58" name="Text 55"/>
          <p:cNvSpPr/>
          <p:nvPr/>
        </p:nvSpPr>
        <p:spPr>
          <a:xfrm>
            <a:off x="4311396" y="632764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inflammation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4311396" y="653338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Chronic inflammation &amp; repair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4311396" y="673912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Neoplasia I — hallmarks &amp; metastases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4311396" y="694486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Neoplasia II — oncogenes &amp; TSGs</a:t>
            </a:r>
            <a:endParaRPr lang="en-US" sz="1000" dirty="0"/>
          </a:p>
        </p:txBody>
      </p:sp>
      <p:sp>
        <p:nvSpPr>
          <p:cNvPr id="62" name="Text 59"/>
          <p:cNvSpPr/>
          <p:nvPr/>
        </p:nvSpPr>
        <p:spPr>
          <a:xfrm>
            <a:off x="4311396" y="715060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Neoplasia III — markers &amp; aging</a:t>
            </a:r>
            <a:endParaRPr lang="en-US" sz="1000" dirty="0"/>
          </a:p>
        </p:txBody>
      </p:sp>
      <p:sp>
        <p:nvSpPr>
          <p:cNvPr id="63" name="Text 60"/>
          <p:cNvSpPr/>
          <p:nvPr/>
        </p:nvSpPr>
        <p:spPr>
          <a:xfrm>
            <a:off x="4311396" y="735634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pathology review</a:t>
            </a:r>
            <a:endParaRPr lang="en-US" sz="1000" dirty="0"/>
          </a:p>
        </p:txBody>
      </p:sp>
      <p:sp>
        <p:nvSpPr>
          <p:cNvPr id="64" name="Shape 61"/>
          <p:cNvSpPr/>
          <p:nvPr/>
        </p:nvSpPr>
        <p:spPr>
          <a:xfrm>
            <a:off x="502920" y="7799832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0C2A3D"/>
          </a:solidFill>
          <a:ln w="12700">
            <a:solidFill>
              <a:srgbClr val="0C2A3D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777240" y="7799832"/>
            <a:ext cx="6675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MATERIAL + TEST QUESTIONS</a:t>
            </a:r>
            <a:pPr indent="0" marL="0">
              <a:buNone/>
            </a:pPr>
            <a:r>
              <a:rPr lang="en-US" sz="1200" i="1" dirty="0">
                <a:solidFill>
                  <a:srgbClr val="BFE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similar to exam day  ·  every day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502920" y="8641080"/>
            <a:ext cx="12801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E8F5"/>
            </a:solidFill>
            <a:prstDash val="solid"/>
          </a:ln>
        </p:spPr>
      </p:sp>
      <p:pic>
        <p:nvPicPr>
          <p:cNvPr id="67" name="Image 1" descr="signup_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8714232"/>
            <a:ext cx="1133856" cy="1133856"/>
          </a:xfrm>
          <a:prstGeom prst="rect">
            <a:avLst/>
          </a:prstGeom>
        </p:spPr>
      </p:pic>
      <p:sp>
        <p:nvSpPr>
          <p:cNvPr id="68" name="Text 64"/>
          <p:cNvSpPr/>
          <p:nvPr/>
        </p:nvSpPr>
        <p:spPr>
          <a:xfrm>
            <a:off x="502920" y="993952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sign up</a:t>
            </a:r>
            <a:endParaRPr lang="en-US" sz="1000" dirty="0"/>
          </a:p>
        </p:txBody>
      </p:sp>
      <p:sp>
        <p:nvSpPr>
          <p:cNvPr id="69" name="Text 65"/>
          <p:cNvSpPr/>
          <p:nvPr/>
        </p:nvSpPr>
        <p:spPr>
          <a:xfrm>
            <a:off x="2057400" y="8659368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100" kern="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</a:t>
            </a:r>
            <a:endParaRPr lang="en-US" sz="3200" dirty="0"/>
          </a:p>
        </p:txBody>
      </p:sp>
      <p:sp>
        <p:nvSpPr>
          <p:cNvPr id="70" name="Text 66"/>
          <p:cNvSpPr/>
          <p:nvPr/>
        </p:nvSpPr>
        <p:spPr>
          <a:xfrm>
            <a:off x="2057400" y="9134856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slots · June cohort</a:t>
            </a:r>
            <a:endParaRPr lang="en-US" sz="1200" dirty="0"/>
          </a:p>
        </p:txBody>
      </p:sp>
      <p:sp>
        <p:nvSpPr>
          <p:cNvPr id="71" name="Text 67"/>
          <p:cNvSpPr/>
          <p:nvPr/>
        </p:nvSpPr>
        <p:spPr>
          <a:xfrm>
            <a:off x="2057400" y="9409176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find the sign-up link on </a:t>
            </a:r>
            <a:pPr indent="0" marL="0">
              <a:buNone/>
            </a:pPr>
            <a:r>
              <a:rPr lang="en-US" sz="10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bakesiga.github.io/usmle-dashboard</a:t>
            </a:r>
            <a:endParaRPr lang="en-US" sz="1050" dirty="0"/>
          </a:p>
        </p:txBody>
      </p:sp>
      <p:pic>
        <p:nvPicPr>
          <p:cNvPr id="72" name="Image 2" descr="email-bl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400" y="9720072"/>
            <a:ext cx="182880" cy="182880"/>
          </a:xfrm>
          <a:prstGeom prst="rect">
            <a:avLst/>
          </a:prstGeom>
        </p:spPr>
      </p:pic>
      <p:sp>
        <p:nvSpPr>
          <p:cNvPr id="73" name="Text 68"/>
          <p:cNvSpPr/>
          <p:nvPr/>
        </p:nvSpPr>
        <p:spPr>
          <a:xfrm>
            <a:off x="2295144" y="9692640"/>
            <a:ext cx="161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000" dirty="0"/>
          </a:p>
        </p:txBody>
      </p:sp>
      <p:pic>
        <p:nvPicPr>
          <p:cNvPr id="74" name="Image 3" descr="whatsap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7160" y="9720072"/>
            <a:ext cx="182880" cy="182880"/>
          </a:xfrm>
          <a:prstGeom prst="rect">
            <a:avLst/>
          </a:prstGeom>
        </p:spPr>
      </p:pic>
      <p:sp>
        <p:nvSpPr>
          <p:cNvPr id="75" name="Text 69"/>
          <p:cNvSpPr/>
          <p:nvPr/>
        </p:nvSpPr>
        <p:spPr>
          <a:xfrm>
            <a:off x="4184904" y="9692640"/>
            <a:ext cx="161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endParaRPr lang="en-US" sz="1000" dirty="0"/>
          </a:p>
        </p:txBody>
      </p:sp>
      <p:pic>
        <p:nvPicPr>
          <p:cNvPr id="76" name="Image 4" descr="phone-blu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6920" y="9720072"/>
            <a:ext cx="182880" cy="182880"/>
          </a:xfrm>
          <a:prstGeom prst="rect">
            <a:avLst/>
          </a:prstGeom>
        </p:spPr>
      </p:pic>
      <p:sp>
        <p:nvSpPr>
          <p:cNvPr id="77" name="Text 70"/>
          <p:cNvSpPr/>
          <p:nvPr/>
        </p:nvSpPr>
        <p:spPr>
          <a:xfrm>
            <a:off x="6074664" y="9692640"/>
            <a:ext cx="161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+1 984 710 2902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1 · June Cohort</dc:title>
  <dc:subject>PptxGenJS Presentation</dc:subject>
  <dc:creator>Allan Bakesiga</dc:creator>
  <cp:lastModifiedBy>Allan Bakesiga</cp:lastModifiedBy>
  <cp:revision>1</cp:revision>
  <dcterms:created xsi:type="dcterms:W3CDTF">2026-05-11T11:14:04Z</dcterms:created>
  <dcterms:modified xsi:type="dcterms:W3CDTF">2026-05-11T11:14:04Z</dcterms:modified>
</cp:coreProperties>
</file>