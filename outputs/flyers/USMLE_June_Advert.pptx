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8229600" cy="10287000"/>
  <p:notesSz cx="10287000" cy="82296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92224"/>
            <a:ext cx="8229600" cy="36576"/>
          </a:xfrm>
          <a:prstGeom prst="rect">
            <a:avLst/>
          </a:prstGeom>
          <a:solidFill>
            <a:srgbClr val="D6E8F5"/>
          </a:solidFill>
          <a:ln w="12700">
            <a:solidFill>
              <a:srgbClr val="D6E8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74320"/>
            <a:ext cx="3337560" cy="329184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SCHEDULE  ·  LIMITED SLOTS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76656"/>
            <a:ext cx="5440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-1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JUNE 1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02920" y="138988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Step 1</a:t>
            </a:r>
            <a:pPr indent="0" marL="0">
              <a:buNone/>
            </a:pPr>
            <a:r>
              <a:rPr lang="en-US" sz="18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8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Mon to Sun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181344" y="77724"/>
            <a:ext cx="1581912" cy="158191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8" name="Image 0" descr="allan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14300"/>
            <a:ext cx="1508760" cy="1508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2029968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COVERING IN JUNE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2331720"/>
            <a:ext cx="1005840" cy="0"/>
          </a:xfrm>
          <a:prstGeom prst="line">
            <a:avLst/>
          </a:prstGeom>
          <a:noFill/>
          <a:ln w="25400">
            <a:solidFill>
              <a:srgbClr val="0284C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23317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2404872"/>
            <a:ext cx="3543300" cy="49377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23317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0936" y="23865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30936" y="26426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days  ·  Jun 1 – 10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30936" y="29900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Orientation, embryology &amp; congenital heart defects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30936" y="31638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cardiac imaging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630936" y="33375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output &amp; PV loops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30936" y="35112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sounds &amp; murmurs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30936" y="36850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&amp; action potentials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30936" y="38587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CAD, IHD &amp; myocardial infarction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30936" y="40325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 &amp; atherosclerosis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30936" y="42062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&amp; cardiomyopathies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30936" y="437997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Endocarditis, myocarditis &amp; vasculitis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30936" y="455371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pharmacology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183380" y="23317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183380" y="2404872"/>
            <a:ext cx="3543300" cy="4937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183380" y="23317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311396" y="23865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311396" y="26426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11 – 18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311396" y="29900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Embryology, surfactant &amp; congenital anomalies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311396" y="31638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&amp; muscles of breathing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4311396" y="33375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 volumes &amp; ventilation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311396" y="35112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exchange &amp; V/Q mismatch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4311396" y="36850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of breathing &amp; sleep apnea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311396" y="38587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&amp; COPD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311396" y="40325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Restrictive disease, ARDS, pneumonia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4311396" y="42062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TB, lung cancer &amp; respiratory pharmacology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02920" y="48463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02920" y="4919472"/>
            <a:ext cx="3543300" cy="4937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2920" y="48463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30936" y="49011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 &amp; BIOSTATS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630936" y="51572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days  ·  Jun 19 – 22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630936" y="5596128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designs, evidence &amp; diagnostic testing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30936" y="5980176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Quantifying risk, transitions &amp; survival analysis</a:t>
            </a:r>
            <a:endParaRPr lang="en-US" sz="1000" dirty="0"/>
          </a:p>
        </p:txBody>
      </p:sp>
      <p:sp>
        <p:nvSpPr>
          <p:cNvPr id="46" name="Text 43"/>
          <p:cNvSpPr/>
          <p:nvPr/>
        </p:nvSpPr>
        <p:spPr>
          <a:xfrm>
            <a:off x="630936" y="6364224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Bias, confounding &amp; effect modification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630936" y="6748272"/>
            <a:ext cx="32872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0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distributions, testing &amp; CIs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4183380" y="4846320"/>
            <a:ext cx="3543300" cy="2377440"/>
          </a:xfrm>
          <a:prstGeom prst="roundRect">
            <a:avLst>
              <a:gd name="adj" fmla="val 3846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183380" y="4919472"/>
            <a:ext cx="3543300" cy="49377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183380" y="4846320"/>
            <a:ext cx="3543300" cy="566928"/>
          </a:xfrm>
          <a:prstGeom prst="roundRect">
            <a:avLst>
              <a:gd name="adj" fmla="val 161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4311396" y="4901184"/>
            <a:ext cx="3287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4311396" y="5157216"/>
            <a:ext cx="32872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days  ·  Jun 23 – 30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4311396" y="550468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Cellular adaptations &amp; apoptosis</a:t>
            </a:r>
            <a:endParaRPr lang="en-US" sz="950" dirty="0"/>
          </a:p>
        </p:txBody>
      </p:sp>
      <p:sp>
        <p:nvSpPr>
          <p:cNvPr id="54" name="Text 51"/>
          <p:cNvSpPr/>
          <p:nvPr/>
        </p:nvSpPr>
        <p:spPr>
          <a:xfrm>
            <a:off x="4311396" y="567842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Necrosis, ischemia &amp; free radicals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4311396" y="585216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inflammation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311396" y="6025896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inflammation &amp; repair</a:t>
            </a:r>
            <a:endParaRPr lang="en-US" sz="950" dirty="0"/>
          </a:p>
        </p:txBody>
      </p:sp>
      <p:sp>
        <p:nvSpPr>
          <p:cNvPr id="57" name="Text 54"/>
          <p:cNvSpPr/>
          <p:nvPr/>
        </p:nvSpPr>
        <p:spPr>
          <a:xfrm>
            <a:off x="4311396" y="6199632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 — hallmarks &amp; metastases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4311396" y="6373368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 — oncogenes &amp; TSGs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4311396" y="6547104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Neoplasia III — markers &amp; aging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4311396" y="6720840"/>
            <a:ext cx="32872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</a:t>
            </a:r>
            <a:pPr indent="0" marL="0">
              <a:buNone/>
            </a:pPr>
            <a:r>
              <a:rPr lang="en-US" sz="9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pathology review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502920" y="7388352"/>
            <a:ext cx="7223760" cy="658368"/>
          </a:xfrm>
          <a:prstGeom prst="roundRect">
            <a:avLst>
              <a:gd name="adj" fmla="val 13889"/>
            </a:avLst>
          </a:prstGeom>
          <a:solidFill>
            <a:srgbClr val="0C2A3D"/>
          </a:solidFill>
          <a:ln w="12700">
            <a:solidFill>
              <a:srgbClr val="0C2A3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777240" y="738835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MATERIAL + TEST QUESTIONS</a:t>
            </a:r>
            <a:pPr indent="0" marL="0">
              <a:buNone/>
            </a:pPr>
            <a:r>
              <a:rPr lang="en-US" sz="1200" i="1" dirty="0">
                <a:solidFill>
                  <a:srgbClr val="BFE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similar to exam day  ·  every day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502920" y="822960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E8F5"/>
            </a:solidFill>
            <a:prstDash val="solid"/>
          </a:ln>
        </p:spPr>
      </p:sp>
      <p:pic>
        <p:nvPicPr>
          <p:cNvPr id="64" name="Image 1" descr="signup_q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8302752"/>
            <a:ext cx="1133856" cy="113385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502920" y="95280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spc="200" kern="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sign up</a:t>
            </a:r>
            <a:endParaRPr lang="en-US" sz="950" dirty="0"/>
          </a:p>
        </p:txBody>
      </p:sp>
      <p:sp>
        <p:nvSpPr>
          <p:cNvPr id="66" name="Text 62"/>
          <p:cNvSpPr/>
          <p:nvPr/>
        </p:nvSpPr>
        <p:spPr>
          <a:xfrm>
            <a:off x="2057400" y="824788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1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3200" dirty="0"/>
          </a:p>
        </p:txBody>
      </p:sp>
      <p:sp>
        <p:nvSpPr>
          <p:cNvPr id="67" name="Text 63"/>
          <p:cNvSpPr/>
          <p:nvPr/>
        </p:nvSpPr>
        <p:spPr>
          <a:xfrm>
            <a:off x="2057400" y="8723376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slots · June cohort</a:t>
            </a:r>
            <a:endParaRPr lang="en-US" sz="1200" dirty="0"/>
          </a:p>
        </p:txBody>
      </p:sp>
      <p:sp>
        <p:nvSpPr>
          <p:cNvPr id="68" name="Text 64"/>
          <p:cNvSpPr/>
          <p:nvPr/>
        </p:nvSpPr>
        <p:spPr>
          <a:xfrm>
            <a:off x="2057400" y="8997696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bakesiga.github.io/usmle-dashboard</a:t>
            </a:r>
            <a:endParaRPr lang="en-US" sz="1000" dirty="0"/>
          </a:p>
        </p:txBody>
      </p:sp>
      <p:pic>
        <p:nvPicPr>
          <p:cNvPr id="69" name="Image 2" descr="email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9308592"/>
            <a:ext cx="182880" cy="182880"/>
          </a:xfrm>
          <a:prstGeom prst="rect">
            <a:avLst/>
          </a:prstGeom>
        </p:spPr>
      </p:pic>
      <p:sp>
        <p:nvSpPr>
          <p:cNvPr id="70" name="Text 65"/>
          <p:cNvSpPr/>
          <p:nvPr/>
        </p:nvSpPr>
        <p:spPr>
          <a:xfrm>
            <a:off x="2295144" y="928116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950" dirty="0"/>
          </a:p>
        </p:txBody>
      </p:sp>
      <p:pic>
        <p:nvPicPr>
          <p:cNvPr id="71" name="Image 3" descr="whatsap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7160" y="9308592"/>
            <a:ext cx="182880" cy="182880"/>
          </a:xfrm>
          <a:prstGeom prst="rect">
            <a:avLst/>
          </a:prstGeom>
        </p:spPr>
      </p:pic>
      <p:sp>
        <p:nvSpPr>
          <p:cNvPr id="72" name="Text 66"/>
          <p:cNvSpPr/>
          <p:nvPr/>
        </p:nvSpPr>
        <p:spPr>
          <a:xfrm>
            <a:off x="4184904" y="928116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950" dirty="0"/>
          </a:p>
        </p:txBody>
      </p:sp>
      <p:pic>
        <p:nvPicPr>
          <p:cNvPr id="73" name="Image 4" descr="phone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6920" y="9308592"/>
            <a:ext cx="182880" cy="18288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6074664" y="9281160"/>
            <a:ext cx="161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950" dirty="0"/>
          </a:p>
        </p:txBody>
      </p:sp>
      <p:sp>
        <p:nvSpPr>
          <p:cNvPr id="75" name="Shape 68"/>
          <p:cNvSpPr/>
          <p:nvPr/>
        </p:nvSpPr>
        <p:spPr>
          <a:xfrm>
            <a:off x="502920" y="9857232"/>
            <a:ext cx="7223760" cy="0"/>
          </a:xfrm>
          <a:prstGeom prst="line">
            <a:avLst/>
          </a:prstGeom>
          <a:noFill/>
          <a:ln w="9525">
            <a:solidFill>
              <a:srgbClr val="D6E8F5"/>
            </a:solidFill>
            <a:prstDash val="solid"/>
          </a:ln>
        </p:spPr>
      </p:sp>
      <p:sp>
        <p:nvSpPr>
          <p:cNvPr id="76" name="Text 69"/>
          <p:cNvSpPr/>
          <p:nvPr/>
        </p:nvSpPr>
        <p:spPr>
          <a:xfrm>
            <a:off x="502920" y="990295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pPr indent="0" marL="0">
              <a:buNone/>
            </a:pPr>
            <a:r>
              <a:rPr lang="en-US" sz="95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MD (Makerere) · MScGH (Duke) · PGY-1 Neurology, Creighton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· June Cohort</dc:title>
  <dc:subject>PptxGenJS Presentation</dc:subject>
  <dc:creator>Allan Bakesiga</dc:creator>
  <cp:lastModifiedBy>Allan Bakesiga</cp:lastModifiedBy>
  <cp:revision>1</cp:revision>
  <dcterms:created xsi:type="dcterms:W3CDTF">2026-05-11T11:02:51Z</dcterms:created>
  <dcterms:modified xsi:type="dcterms:W3CDTF">2026-05-11T11:02:51Z</dcterms:modified>
</cp:coreProperties>
</file>