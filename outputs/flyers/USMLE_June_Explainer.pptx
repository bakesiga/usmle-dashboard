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8229600" cy="10287000"/>
  <p:notesSz cx="10287000" cy="8229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00" cy="566928"/>
          </a:xfrm>
          <a:prstGeom prst="rect">
            <a:avLst/>
          </a:prstGeom>
          <a:solidFill>
            <a:srgbClr val="0C2A3D"/>
          </a:solidFill>
          <a:ln w="12700">
            <a:solidFill>
              <a:srgbClr val="0C2A3D"/>
            </a:solidFill>
            <a:prstDash val="solid"/>
          </a:ln>
        </p:spPr>
      </p:sp>
      <p:sp>
        <p:nvSpPr>
          <p:cNvPr id="3" name="Text 1"/>
          <p:cNvSpPr/>
          <p:nvPr/>
        </p:nvSpPr>
        <p:spPr>
          <a:xfrm>
            <a:off x="0" y="0"/>
            <a:ext cx="8229600" cy="566928"/>
          </a:xfrm>
          <a:prstGeom prst="rect">
            <a:avLst/>
          </a:prstGeom>
          <a:noFill/>
          <a:ln/>
        </p:spPr>
        <p:txBody>
          <a:bodyPr wrap="square" lIns="0" tIns="0" rIns="0" bIns="0" rtlCol="0" anchor="ctr"/>
          <a:lstStyle/>
          <a:p>
            <a:pPr algn="ctr" indent="0" marL="0">
              <a:buNone/>
            </a:pPr>
            <a:r>
              <a:rPr lang="en-US" sz="1400" b="1" spc="300" kern="0" dirty="0">
                <a:solidFill>
                  <a:srgbClr val="FFFFFF"/>
                </a:solidFill>
                <a:latin typeface="Comic Sans MS" pitchFamily="34" charset="0"/>
                <a:ea typeface="Comic Sans MS" pitchFamily="34" charset="-122"/>
                <a:cs typeface="Comic Sans MS" pitchFamily="34" charset="-120"/>
              </a:rPr>
              <a:t>UNITED STATES MEDICAL LICENSING EXAMINATION</a:t>
            </a:r>
            <a:endParaRPr lang="en-US" sz="1400" dirty="0"/>
          </a:p>
        </p:txBody>
      </p:sp>
      <p:sp>
        <p:nvSpPr>
          <p:cNvPr id="4" name="Text 2"/>
          <p:cNvSpPr/>
          <p:nvPr/>
        </p:nvSpPr>
        <p:spPr>
          <a:xfrm>
            <a:off x="502920" y="658368"/>
            <a:ext cx="4937760" cy="365760"/>
          </a:xfrm>
          <a:prstGeom prst="rect">
            <a:avLst/>
          </a:prstGeom>
          <a:noFill/>
          <a:ln/>
        </p:spPr>
        <p:txBody>
          <a:bodyPr wrap="square" lIns="0" tIns="0" rIns="0" bIns="0" rtlCol="0" anchor="ctr"/>
          <a:lstStyle/>
          <a:p>
            <a:pPr algn="l" indent="0" marL="0">
              <a:buNone/>
            </a:pPr>
            <a:r>
              <a:rPr lang="en-US" sz="1500" b="1" spc="200" kern="0" dirty="0">
                <a:solidFill>
                  <a:srgbClr val="B45309"/>
                </a:solidFill>
                <a:latin typeface="Comic Sans MS" pitchFamily="34" charset="0"/>
                <a:ea typeface="Comic Sans MS" pitchFamily="34" charset="-122"/>
                <a:cs typeface="Comic Sans MS" pitchFamily="34" charset="-120"/>
              </a:rPr>
              <a:t>16 DAYS TO GO  ·  JUNE 1</a:t>
            </a:r>
            <a:endParaRPr lang="en-US" sz="1500" dirty="0"/>
          </a:p>
        </p:txBody>
      </p:sp>
      <p:sp>
        <p:nvSpPr>
          <p:cNvPr id="5" name="Shape 3"/>
          <p:cNvSpPr/>
          <p:nvPr/>
        </p:nvSpPr>
        <p:spPr>
          <a:xfrm>
            <a:off x="6272784" y="649224"/>
            <a:ext cx="1444752" cy="1444752"/>
          </a:xfrm>
          <a:prstGeom prst="ellipse">
            <a:avLst/>
          </a:prstGeom>
          <a:solidFill>
            <a:srgbClr val="0284C7"/>
          </a:solidFill>
          <a:ln w="12700">
            <a:solidFill>
              <a:srgbClr val="0284C7"/>
            </a:solidFill>
            <a:prstDash val="solid"/>
          </a:ln>
        </p:spPr>
      </p:sp>
      <p:pic>
        <p:nvPicPr>
          <p:cNvPr id="6" name="Image 0" descr="allan_circle.png">    </p:cNvPr>
          <p:cNvPicPr>
            <a:picLocks noChangeAspect="1"/>
          </p:cNvPicPr>
          <p:nvPr/>
        </p:nvPicPr>
        <p:blipFill>
          <a:blip r:embed="rId1"/>
          <a:stretch>
            <a:fillRect/>
          </a:stretch>
        </p:blipFill>
        <p:spPr>
          <a:xfrm>
            <a:off x="6309360" y="685800"/>
            <a:ext cx="1371600" cy="1371600"/>
          </a:xfrm>
          <a:prstGeom prst="rect">
            <a:avLst/>
          </a:prstGeom>
        </p:spPr>
      </p:pic>
      <p:sp>
        <p:nvSpPr>
          <p:cNvPr id="7" name="Text 4"/>
          <p:cNvSpPr/>
          <p:nvPr/>
        </p:nvSpPr>
        <p:spPr>
          <a:xfrm>
            <a:off x="5760720" y="2130552"/>
            <a:ext cx="2468880" cy="292608"/>
          </a:xfrm>
          <a:prstGeom prst="rect">
            <a:avLst/>
          </a:prstGeom>
          <a:noFill/>
          <a:ln/>
        </p:spPr>
        <p:txBody>
          <a:bodyPr wrap="square" lIns="0" tIns="0" rIns="0" bIns="0" rtlCol="0" anchor="ctr"/>
          <a:lstStyle/>
          <a:p>
            <a:pPr algn="ctr" indent="0" marL="0">
              <a:buNone/>
            </a:pPr>
            <a:r>
              <a:rPr lang="en-US" sz="1500" b="1" dirty="0">
                <a:solidFill>
                  <a:srgbClr val="0C2A3D"/>
                </a:solidFill>
                <a:latin typeface="Comic Sans MS" pitchFamily="34" charset="0"/>
                <a:ea typeface="Comic Sans MS" pitchFamily="34" charset="-122"/>
                <a:cs typeface="Comic Sans MS" pitchFamily="34" charset="-120"/>
              </a:rPr>
              <a:t>Allan Bakesiga</a:t>
            </a:r>
            <a:endParaRPr lang="en-US" sz="1500" dirty="0"/>
          </a:p>
        </p:txBody>
      </p:sp>
      <p:sp>
        <p:nvSpPr>
          <p:cNvPr id="8" name="Text 5"/>
          <p:cNvSpPr/>
          <p:nvPr/>
        </p:nvSpPr>
        <p:spPr>
          <a:xfrm>
            <a:off x="5760720" y="2423160"/>
            <a:ext cx="2468880" cy="256032"/>
          </a:xfrm>
          <a:prstGeom prst="rect">
            <a:avLst/>
          </a:prstGeom>
          <a:noFill/>
          <a:ln/>
        </p:spPr>
        <p:txBody>
          <a:bodyPr wrap="square" lIns="0" tIns="0" rIns="0" bIns="0" rtlCol="0" anchor="ctr"/>
          <a:lstStyle/>
          <a:p>
            <a:pPr algn="ctr" indent="0" marL="0">
              <a:buNone/>
            </a:pPr>
            <a:r>
              <a:rPr lang="en-US" sz="1100" b="1" dirty="0">
                <a:solidFill>
                  <a:srgbClr val="345671"/>
                </a:solidFill>
                <a:latin typeface="Comic Sans MS" pitchFamily="34" charset="0"/>
                <a:ea typeface="Comic Sans MS" pitchFamily="34" charset="-122"/>
                <a:cs typeface="Comic Sans MS" pitchFamily="34" charset="-120"/>
              </a:rPr>
              <a:t>MD (Makerere) · MScGH (Duke)</a:t>
            </a:r>
            <a:endParaRPr lang="en-US" sz="1100" dirty="0"/>
          </a:p>
        </p:txBody>
      </p:sp>
      <p:sp>
        <p:nvSpPr>
          <p:cNvPr id="9" name="Text 6"/>
          <p:cNvSpPr/>
          <p:nvPr/>
        </p:nvSpPr>
        <p:spPr>
          <a:xfrm>
            <a:off x="5760720" y="2679192"/>
            <a:ext cx="2468880" cy="256032"/>
          </a:xfrm>
          <a:prstGeom prst="rect">
            <a:avLst/>
          </a:prstGeom>
          <a:noFill/>
          <a:ln/>
        </p:spPr>
        <p:txBody>
          <a:bodyPr wrap="square" lIns="0" tIns="0" rIns="0" bIns="0" rtlCol="0" anchor="ctr"/>
          <a:lstStyle/>
          <a:p>
            <a:pPr algn="ctr" indent="0" marL="0">
              <a:buNone/>
            </a:pPr>
            <a:r>
              <a:rPr lang="en-US" sz="1100" b="1" dirty="0">
                <a:solidFill>
                  <a:srgbClr val="345671"/>
                </a:solidFill>
                <a:latin typeface="Comic Sans MS" pitchFamily="34" charset="0"/>
                <a:ea typeface="Comic Sans MS" pitchFamily="34" charset="-122"/>
                <a:cs typeface="Comic Sans MS" pitchFamily="34" charset="-120"/>
              </a:rPr>
              <a:t>PGY-1 Neurology (Creighton)</a:t>
            </a:r>
            <a:endParaRPr lang="en-US" sz="1100" dirty="0"/>
          </a:p>
        </p:txBody>
      </p:sp>
      <p:sp>
        <p:nvSpPr>
          <p:cNvPr id="10" name="Text 7"/>
          <p:cNvSpPr/>
          <p:nvPr/>
        </p:nvSpPr>
        <p:spPr>
          <a:xfrm>
            <a:off x="502920" y="1097280"/>
            <a:ext cx="5303520" cy="731520"/>
          </a:xfrm>
          <a:prstGeom prst="rect">
            <a:avLst/>
          </a:prstGeom>
          <a:noFill/>
          <a:ln/>
        </p:spPr>
        <p:txBody>
          <a:bodyPr wrap="square" lIns="0" tIns="0" rIns="0" bIns="0" rtlCol="0" anchor="ctr"/>
          <a:lstStyle/>
          <a:p>
            <a:pPr indent="0" marL="0">
              <a:buNone/>
            </a:pPr>
            <a:r>
              <a:rPr lang="en-US" sz="3600" b="1" spc="-100" kern="0" dirty="0">
                <a:solidFill>
                  <a:srgbClr val="075985"/>
                </a:solidFill>
                <a:latin typeface="Comic Sans MS" pitchFamily="34" charset="0"/>
                <a:ea typeface="Comic Sans MS" pitchFamily="34" charset="-122"/>
                <a:cs typeface="Comic Sans MS" pitchFamily="34" charset="-120"/>
              </a:rPr>
              <a:t>What is the USMLE?</a:t>
            </a:r>
            <a:endParaRPr lang="en-US" sz="3600" dirty="0"/>
          </a:p>
        </p:txBody>
      </p:sp>
      <p:sp>
        <p:nvSpPr>
          <p:cNvPr id="11" name="Text 8"/>
          <p:cNvSpPr/>
          <p:nvPr/>
        </p:nvSpPr>
        <p:spPr>
          <a:xfrm>
            <a:off x="502920" y="1874520"/>
            <a:ext cx="5303520" cy="365760"/>
          </a:xfrm>
          <a:prstGeom prst="rect">
            <a:avLst/>
          </a:prstGeom>
          <a:noFill/>
          <a:ln/>
        </p:spPr>
        <p:txBody>
          <a:bodyPr wrap="square" lIns="0" tIns="0" rIns="0" bIns="0" rtlCol="0" anchor="t"/>
          <a:lstStyle/>
          <a:p>
            <a:pPr indent="0" marL="0">
              <a:buNone/>
            </a:pPr>
            <a:r>
              <a:rPr lang="en-US" sz="1800" b="1" i="1" dirty="0">
                <a:solidFill>
                  <a:srgbClr val="345671"/>
                </a:solidFill>
                <a:latin typeface="Comic Sans MS" pitchFamily="34" charset="0"/>
                <a:ea typeface="Comic Sans MS" pitchFamily="34" charset="-122"/>
                <a:cs typeface="Comic Sans MS" pitchFamily="34" charset="-120"/>
              </a:rPr>
              <a:t>Your path to US medical residency training.</a:t>
            </a:r>
            <a:endParaRPr lang="en-US" sz="1800" dirty="0"/>
          </a:p>
        </p:txBody>
      </p:sp>
      <p:sp>
        <p:nvSpPr>
          <p:cNvPr id="12" name="Shape 9"/>
          <p:cNvSpPr/>
          <p:nvPr/>
        </p:nvSpPr>
        <p:spPr>
          <a:xfrm>
            <a:off x="502920" y="2971800"/>
            <a:ext cx="7223760" cy="1508760"/>
          </a:xfrm>
          <a:prstGeom prst="roundRect">
            <a:avLst>
              <a:gd name="adj" fmla="val 7273"/>
            </a:avLst>
          </a:prstGeom>
          <a:solidFill>
            <a:srgbClr val="E0F2FE"/>
          </a:solidFill>
          <a:ln w="12700">
            <a:solidFill>
              <a:srgbClr val="E0F2FE"/>
            </a:solidFill>
            <a:prstDash val="solid"/>
          </a:ln>
        </p:spPr>
      </p:sp>
      <p:sp>
        <p:nvSpPr>
          <p:cNvPr id="13" name="Shape 10"/>
          <p:cNvSpPr/>
          <p:nvPr/>
        </p:nvSpPr>
        <p:spPr>
          <a:xfrm>
            <a:off x="502920" y="3063240"/>
            <a:ext cx="91440" cy="1325880"/>
          </a:xfrm>
          <a:prstGeom prst="rect">
            <a:avLst/>
          </a:prstGeom>
          <a:solidFill>
            <a:srgbClr val="0284C7"/>
          </a:solidFill>
          <a:ln w="12700">
            <a:solidFill>
              <a:srgbClr val="0284C7"/>
            </a:solidFill>
            <a:prstDash val="solid"/>
          </a:ln>
        </p:spPr>
      </p:sp>
      <p:sp>
        <p:nvSpPr>
          <p:cNvPr id="14" name="Text 11"/>
          <p:cNvSpPr/>
          <p:nvPr/>
        </p:nvSpPr>
        <p:spPr>
          <a:xfrm>
            <a:off x="777240" y="3081528"/>
            <a:ext cx="6812280" cy="310896"/>
          </a:xfrm>
          <a:prstGeom prst="rect">
            <a:avLst/>
          </a:prstGeom>
          <a:noFill/>
          <a:ln/>
        </p:spPr>
        <p:txBody>
          <a:bodyPr wrap="square" lIns="0" tIns="0" rIns="0" bIns="0" rtlCol="0" anchor="ctr"/>
          <a:lstStyle/>
          <a:p>
            <a:pPr indent="0" marL="0">
              <a:buNone/>
            </a:pPr>
            <a:r>
              <a:rPr lang="en-US" sz="1700" b="1" spc="200" kern="0" dirty="0">
                <a:solidFill>
                  <a:srgbClr val="075985"/>
                </a:solidFill>
                <a:latin typeface="Comic Sans MS" pitchFamily="34" charset="0"/>
                <a:ea typeface="Comic Sans MS" pitchFamily="34" charset="-122"/>
                <a:cs typeface="Comic Sans MS" pitchFamily="34" charset="-120"/>
              </a:rPr>
              <a:t>WHAT IS IT?</a:t>
            </a:r>
            <a:endParaRPr lang="en-US" sz="1700" dirty="0"/>
          </a:p>
        </p:txBody>
      </p:sp>
      <p:sp>
        <p:nvSpPr>
          <p:cNvPr id="15" name="Text 12"/>
          <p:cNvSpPr/>
          <p:nvPr/>
        </p:nvSpPr>
        <p:spPr>
          <a:xfrm>
            <a:off x="777240" y="3429000"/>
            <a:ext cx="6812280" cy="960120"/>
          </a:xfrm>
          <a:prstGeom prst="rect">
            <a:avLst/>
          </a:prstGeom>
          <a:noFill/>
          <a:ln/>
        </p:spPr>
        <p:txBody>
          <a:bodyPr wrap="square" lIns="0" tIns="0" rIns="0" bIns="0" rtlCol="0" anchor="ctr"/>
          <a:lstStyle/>
          <a:p>
            <a:pPr indent="0" marL="0">
              <a:buNone/>
            </a:pPr>
            <a:r>
              <a:rPr lang="en-US" sz="1350" b="1" dirty="0">
                <a:solidFill>
                  <a:srgbClr val="0C2A3D"/>
                </a:solidFill>
                <a:latin typeface="Comic Sans MS" pitchFamily="34" charset="0"/>
                <a:ea typeface="Comic Sans MS" pitchFamily="34" charset="-122"/>
                <a:cs typeface="Comic Sans MS" pitchFamily="34" charset="-120"/>
              </a:rPr>
              <a:t>A three-Step examination for medical licensure in the United States, sponsored by the FSMB and NBME. It assesses an examinee's ability to apply medical knowledge, concepts, and principles for safe and effective patient care.</a:t>
            </a:r>
            <a:endParaRPr lang="en-US" sz="1350" dirty="0"/>
          </a:p>
        </p:txBody>
      </p:sp>
      <p:sp>
        <p:nvSpPr>
          <p:cNvPr id="16" name="Shape 13"/>
          <p:cNvSpPr/>
          <p:nvPr/>
        </p:nvSpPr>
        <p:spPr>
          <a:xfrm>
            <a:off x="502920" y="4572000"/>
            <a:ext cx="7223760" cy="1737360"/>
          </a:xfrm>
          <a:prstGeom prst="roundRect">
            <a:avLst>
              <a:gd name="adj" fmla="val 6316"/>
            </a:avLst>
          </a:prstGeom>
          <a:solidFill>
            <a:srgbClr val="D1FAE5"/>
          </a:solidFill>
          <a:ln w="12700">
            <a:solidFill>
              <a:srgbClr val="D1FAE5"/>
            </a:solidFill>
            <a:prstDash val="solid"/>
          </a:ln>
        </p:spPr>
      </p:sp>
      <p:sp>
        <p:nvSpPr>
          <p:cNvPr id="17" name="Shape 14"/>
          <p:cNvSpPr/>
          <p:nvPr/>
        </p:nvSpPr>
        <p:spPr>
          <a:xfrm>
            <a:off x="502920" y="4663440"/>
            <a:ext cx="91440" cy="1554480"/>
          </a:xfrm>
          <a:prstGeom prst="rect">
            <a:avLst/>
          </a:prstGeom>
          <a:solidFill>
            <a:srgbClr val="059669"/>
          </a:solidFill>
          <a:ln w="12700">
            <a:solidFill>
              <a:srgbClr val="059669"/>
            </a:solidFill>
            <a:prstDash val="solid"/>
          </a:ln>
        </p:spPr>
      </p:sp>
      <p:sp>
        <p:nvSpPr>
          <p:cNvPr id="18" name="Text 15"/>
          <p:cNvSpPr/>
          <p:nvPr/>
        </p:nvSpPr>
        <p:spPr>
          <a:xfrm>
            <a:off x="777240" y="4681728"/>
            <a:ext cx="6812280" cy="310896"/>
          </a:xfrm>
          <a:prstGeom prst="rect">
            <a:avLst/>
          </a:prstGeom>
          <a:noFill/>
          <a:ln/>
        </p:spPr>
        <p:txBody>
          <a:bodyPr wrap="square" lIns="0" tIns="0" rIns="0" bIns="0" rtlCol="0" anchor="ctr"/>
          <a:lstStyle/>
          <a:p>
            <a:pPr indent="0" marL="0">
              <a:buNone/>
            </a:pPr>
            <a:r>
              <a:rPr lang="en-US" sz="1700" b="1" spc="200" kern="0" dirty="0">
                <a:solidFill>
                  <a:srgbClr val="065F46"/>
                </a:solidFill>
                <a:latin typeface="Comic Sans MS" pitchFamily="34" charset="0"/>
                <a:ea typeface="Comic Sans MS" pitchFamily="34" charset="-122"/>
                <a:cs typeface="Comic Sans MS" pitchFamily="34" charset="-120"/>
              </a:rPr>
              <a:t>WHO TAKES IT?</a:t>
            </a:r>
            <a:endParaRPr lang="en-US" sz="1700" dirty="0"/>
          </a:p>
        </p:txBody>
      </p:sp>
      <p:sp>
        <p:nvSpPr>
          <p:cNvPr id="19" name="Text 16"/>
          <p:cNvSpPr/>
          <p:nvPr/>
        </p:nvSpPr>
        <p:spPr>
          <a:xfrm>
            <a:off x="777240" y="5029200"/>
            <a:ext cx="6812280" cy="1188720"/>
          </a:xfrm>
          <a:prstGeom prst="rect">
            <a:avLst/>
          </a:prstGeom>
          <a:noFill/>
          <a:ln/>
        </p:spPr>
        <p:txBody>
          <a:bodyPr wrap="square" lIns="0" tIns="0" rIns="0" bIns="0" rtlCol="0" anchor="ctr"/>
          <a:lstStyle/>
          <a:p>
            <a:pPr indent="0" marL="0">
              <a:buNone/>
            </a:pPr>
            <a:r>
              <a:rPr lang="en-US" sz="1350" b="1" dirty="0">
                <a:solidFill>
                  <a:srgbClr val="0C2A3D"/>
                </a:solidFill>
                <a:latin typeface="Comic Sans MS" pitchFamily="34" charset="0"/>
                <a:ea typeface="Comic Sans MS" pitchFamily="34" charset="-122"/>
                <a:cs typeface="Comic Sans MS" pitchFamily="34" charset="-120"/>
              </a:rPr>
              <a:t>Medical students and graduates of US medical schools, and graduates of medical schools outside the US listed in the World Directory of Medical Schools. IMGs (International Medical Graduates, physicians whose medical degree was earned outside the US) register through ECFMG. Check your school at wdoms.org.</a:t>
            </a:r>
            <a:endParaRPr lang="en-US" sz="1350" dirty="0"/>
          </a:p>
        </p:txBody>
      </p:sp>
      <p:sp>
        <p:nvSpPr>
          <p:cNvPr id="20" name="Shape 17"/>
          <p:cNvSpPr/>
          <p:nvPr/>
        </p:nvSpPr>
        <p:spPr>
          <a:xfrm>
            <a:off x="502920" y="6400800"/>
            <a:ext cx="7223760" cy="1417320"/>
          </a:xfrm>
          <a:prstGeom prst="roundRect">
            <a:avLst>
              <a:gd name="adj" fmla="val 7742"/>
            </a:avLst>
          </a:prstGeom>
          <a:solidFill>
            <a:srgbClr val="EDE9FE"/>
          </a:solidFill>
          <a:ln w="12700">
            <a:solidFill>
              <a:srgbClr val="EDE9FE"/>
            </a:solidFill>
            <a:prstDash val="solid"/>
          </a:ln>
        </p:spPr>
      </p:sp>
      <p:sp>
        <p:nvSpPr>
          <p:cNvPr id="21" name="Shape 18"/>
          <p:cNvSpPr/>
          <p:nvPr/>
        </p:nvSpPr>
        <p:spPr>
          <a:xfrm>
            <a:off x="502920" y="6492240"/>
            <a:ext cx="91440" cy="1234440"/>
          </a:xfrm>
          <a:prstGeom prst="rect">
            <a:avLst/>
          </a:prstGeom>
          <a:solidFill>
            <a:srgbClr val="7C3AED"/>
          </a:solidFill>
          <a:ln w="12700">
            <a:solidFill>
              <a:srgbClr val="7C3AED"/>
            </a:solidFill>
            <a:prstDash val="solid"/>
          </a:ln>
        </p:spPr>
      </p:sp>
      <p:sp>
        <p:nvSpPr>
          <p:cNvPr id="22" name="Text 19"/>
          <p:cNvSpPr/>
          <p:nvPr/>
        </p:nvSpPr>
        <p:spPr>
          <a:xfrm>
            <a:off x="777240" y="6510528"/>
            <a:ext cx="6812280" cy="310896"/>
          </a:xfrm>
          <a:prstGeom prst="rect">
            <a:avLst/>
          </a:prstGeom>
          <a:noFill/>
          <a:ln/>
        </p:spPr>
        <p:txBody>
          <a:bodyPr wrap="square" lIns="0" tIns="0" rIns="0" bIns="0" rtlCol="0" anchor="ctr"/>
          <a:lstStyle/>
          <a:p>
            <a:pPr indent="0" marL="0">
              <a:buNone/>
            </a:pPr>
            <a:r>
              <a:rPr lang="en-US" sz="1700" b="1" spc="200" kern="0" dirty="0">
                <a:solidFill>
                  <a:srgbClr val="5B21B6"/>
                </a:solidFill>
                <a:latin typeface="Comic Sans MS" pitchFamily="34" charset="0"/>
                <a:ea typeface="Comic Sans MS" pitchFamily="34" charset="-122"/>
                <a:cs typeface="Comic Sans MS" pitchFamily="34" charset="-120"/>
              </a:rPr>
              <a:t>WHERE DOES IT LEAD?</a:t>
            </a:r>
            <a:endParaRPr lang="en-US" sz="1700" dirty="0"/>
          </a:p>
        </p:txBody>
      </p:sp>
      <p:sp>
        <p:nvSpPr>
          <p:cNvPr id="23" name="Text 20"/>
          <p:cNvSpPr/>
          <p:nvPr/>
        </p:nvSpPr>
        <p:spPr>
          <a:xfrm>
            <a:off x="777240" y="6858000"/>
            <a:ext cx="6812280" cy="868680"/>
          </a:xfrm>
          <a:prstGeom prst="rect">
            <a:avLst/>
          </a:prstGeom>
          <a:noFill/>
          <a:ln/>
        </p:spPr>
        <p:txBody>
          <a:bodyPr wrap="square" lIns="0" tIns="0" rIns="0" bIns="0" rtlCol="0" anchor="ctr"/>
          <a:lstStyle/>
          <a:p>
            <a:pPr indent="0" marL="0">
              <a:buNone/>
            </a:pPr>
            <a:r>
              <a:rPr lang="en-US" sz="1350" b="1" dirty="0">
                <a:solidFill>
                  <a:srgbClr val="0C2A3D"/>
                </a:solidFill>
                <a:latin typeface="Comic Sans MS" pitchFamily="34" charset="0"/>
                <a:ea typeface="Comic Sans MS" pitchFamily="34" charset="-122"/>
                <a:cs typeface="Comic Sans MS" pitchFamily="34" charset="-120"/>
              </a:rPr>
              <a:t>State medical boards use USMLE results for physician licensure. For IMGs, Step 1 and Step 2 CK are required for ECFMG Certification, the gateway to ACGME-accredited US residency programs.</a:t>
            </a:r>
            <a:endParaRPr lang="en-US" sz="1350" dirty="0"/>
          </a:p>
        </p:txBody>
      </p:sp>
      <p:sp>
        <p:nvSpPr>
          <p:cNvPr id="24" name="Shape 21"/>
          <p:cNvSpPr/>
          <p:nvPr/>
        </p:nvSpPr>
        <p:spPr>
          <a:xfrm>
            <a:off x="502920" y="7909560"/>
            <a:ext cx="7223760" cy="1051560"/>
          </a:xfrm>
          <a:prstGeom prst="roundRect">
            <a:avLst>
              <a:gd name="adj" fmla="val 10435"/>
            </a:avLst>
          </a:prstGeom>
          <a:solidFill>
            <a:srgbClr val="FEF3C7"/>
          </a:solidFill>
          <a:ln w="12700">
            <a:solidFill>
              <a:srgbClr val="FEF3C7"/>
            </a:solidFill>
            <a:prstDash val="solid"/>
          </a:ln>
        </p:spPr>
      </p:sp>
      <p:sp>
        <p:nvSpPr>
          <p:cNvPr id="25" name="Shape 22"/>
          <p:cNvSpPr/>
          <p:nvPr/>
        </p:nvSpPr>
        <p:spPr>
          <a:xfrm>
            <a:off x="502920" y="8001000"/>
            <a:ext cx="91440" cy="868680"/>
          </a:xfrm>
          <a:prstGeom prst="rect">
            <a:avLst/>
          </a:prstGeom>
          <a:solidFill>
            <a:srgbClr val="D97706"/>
          </a:solidFill>
          <a:ln w="12700">
            <a:solidFill>
              <a:srgbClr val="D97706"/>
            </a:solidFill>
            <a:prstDash val="solid"/>
          </a:ln>
        </p:spPr>
      </p:sp>
      <p:sp>
        <p:nvSpPr>
          <p:cNvPr id="26" name="Text 23"/>
          <p:cNvSpPr/>
          <p:nvPr/>
        </p:nvSpPr>
        <p:spPr>
          <a:xfrm>
            <a:off x="777240" y="8019288"/>
            <a:ext cx="6812280" cy="310896"/>
          </a:xfrm>
          <a:prstGeom prst="rect">
            <a:avLst/>
          </a:prstGeom>
          <a:noFill/>
          <a:ln/>
        </p:spPr>
        <p:txBody>
          <a:bodyPr wrap="square" lIns="0" tIns="0" rIns="0" bIns="0" rtlCol="0" anchor="ctr"/>
          <a:lstStyle/>
          <a:p>
            <a:pPr indent="0" marL="0">
              <a:buNone/>
            </a:pPr>
            <a:r>
              <a:rPr lang="en-US" sz="1700" b="1" spc="200" kern="0" dirty="0">
                <a:solidFill>
                  <a:srgbClr val="B45309"/>
                </a:solidFill>
                <a:latin typeface="Comic Sans MS" pitchFamily="34" charset="0"/>
                <a:ea typeface="Comic Sans MS" pitchFamily="34" charset="-122"/>
                <a:cs typeface="Comic Sans MS" pitchFamily="34" charset="-120"/>
              </a:rPr>
              <a:t>WHAT IS US RESIDENCY TRAINING?</a:t>
            </a:r>
            <a:endParaRPr lang="en-US" sz="1700" dirty="0"/>
          </a:p>
        </p:txBody>
      </p:sp>
      <p:sp>
        <p:nvSpPr>
          <p:cNvPr id="27" name="Text 24"/>
          <p:cNvSpPr/>
          <p:nvPr/>
        </p:nvSpPr>
        <p:spPr>
          <a:xfrm>
            <a:off x="777240" y="8366760"/>
            <a:ext cx="6812280" cy="502920"/>
          </a:xfrm>
          <a:prstGeom prst="rect">
            <a:avLst/>
          </a:prstGeom>
          <a:noFill/>
          <a:ln/>
        </p:spPr>
        <p:txBody>
          <a:bodyPr wrap="square" lIns="0" tIns="0" rIns="0" bIns="0" rtlCol="0" anchor="ctr"/>
          <a:lstStyle/>
          <a:p>
            <a:pPr indent="0" marL="0">
              <a:buNone/>
            </a:pPr>
            <a:r>
              <a:rPr lang="en-US" sz="1350" b="1" dirty="0">
                <a:solidFill>
                  <a:srgbClr val="0C2A3D"/>
                </a:solidFill>
                <a:latin typeface="Comic Sans MS" pitchFamily="34" charset="0"/>
                <a:ea typeface="Comic Sans MS" pitchFamily="34" charset="-122"/>
                <a:cs typeface="Comic Sans MS" pitchFamily="34" charset="-120"/>
              </a:rPr>
              <a:t>Specialty training after medical school. The equivalent of a Master of Medicine (MMed) in a given specialty.</a:t>
            </a:r>
            <a:endParaRPr lang="en-US" sz="1350" dirty="0"/>
          </a:p>
        </p:txBody>
      </p:sp>
      <p:sp>
        <p:nvSpPr>
          <p:cNvPr id="28" name="Shape 25"/>
          <p:cNvSpPr/>
          <p:nvPr/>
        </p:nvSpPr>
        <p:spPr>
          <a:xfrm>
            <a:off x="502920" y="9089136"/>
            <a:ext cx="7223760" cy="1371600"/>
          </a:xfrm>
          <a:prstGeom prst="roundRect">
            <a:avLst>
              <a:gd name="adj" fmla="val 8000"/>
            </a:avLst>
          </a:prstGeom>
          <a:solidFill>
            <a:srgbClr val="0C2A3D"/>
          </a:solidFill>
          <a:ln w="12700">
            <a:solidFill>
              <a:srgbClr val="0C2A3D"/>
            </a:solidFill>
            <a:prstDash val="solid"/>
          </a:ln>
        </p:spPr>
      </p:sp>
      <p:sp>
        <p:nvSpPr>
          <p:cNvPr id="29" name="Text 26"/>
          <p:cNvSpPr/>
          <p:nvPr/>
        </p:nvSpPr>
        <p:spPr>
          <a:xfrm>
            <a:off x="685800" y="9217152"/>
            <a:ext cx="5852160" cy="292608"/>
          </a:xfrm>
          <a:prstGeom prst="rect">
            <a:avLst/>
          </a:prstGeom>
          <a:noFill/>
          <a:ln/>
        </p:spPr>
        <p:txBody>
          <a:bodyPr wrap="square" lIns="0" tIns="0" rIns="0" bIns="0" rtlCol="0" anchor="ctr"/>
          <a:lstStyle/>
          <a:p>
            <a:pPr algn="ctr" indent="0" marL="0">
              <a:buNone/>
            </a:pPr>
            <a:r>
              <a:rPr lang="en-US" sz="1300" b="1" spc="200" kern="0" dirty="0">
                <a:solidFill>
                  <a:srgbClr val="BFE3F7"/>
                </a:solidFill>
                <a:latin typeface="Comic Sans MS" pitchFamily="34" charset="0"/>
                <a:ea typeface="Comic Sans MS" pitchFamily="34" charset="-122"/>
                <a:cs typeface="Comic Sans MS" pitchFamily="34" charset="-120"/>
              </a:rPr>
              <a:t>WHAT DO YOU NEED TO DO RIGHT NOW?</a:t>
            </a:r>
            <a:endParaRPr lang="en-US" sz="1300" dirty="0"/>
          </a:p>
        </p:txBody>
      </p:sp>
      <p:sp>
        <p:nvSpPr>
          <p:cNvPr id="30" name="Text 27"/>
          <p:cNvSpPr/>
          <p:nvPr/>
        </p:nvSpPr>
        <p:spPr>
          <a:xfrm>
            <a:off x="685800" y="9528048"/>
            <a:ext cx="585216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omic Sans MS" pitchFamily="34" charset="0"/>
                <a:ea typeface="Comic Sans MS" pitchFamily="34" charset="-122"/>
                <a:cs typeface="Comic Sans MS" pitchFamily="34" charset="-120"/>
              </a:rPr>
              <a:t>Start preparing for the USMLE exams with Allan!</a:t>
            </a:r>
            <a:endParaRPr lang="en-US" sz="1600" dirty="0"/>
          </a:p>
        </p:txBody>
      </p:sp>
      <p:sp>
        <p:nvSpPr>
          <p:cNvPr id="31" name="Text 28"/>
          <p:cNvSpPr/>
          <p:nvPr/>
        </p:nvSpPr>
        <p:spPr>
          <a:xfrm>
            <a:off x="685800" y="9985248"/>
            <a:ext cx="5852160" cy="256032"/>
          </a:xfrm>
          <a:prstGeom prst="rect">
            <a:avLst/>
          </a:prstGeom>
          <a:noFill/>
          <a:ln/>
        </p:spPr>
        <p:txBody>
          <a:bodyPr wrap="square" lIns="0" tIns="0" rIns="0" bIns="0" rtlCol="0" anchor="ctr"/>
          <a:lstStyle/>
          <a:p>
            <a:pPr algn="ctr" indent="0" marL="0">
              <a:buNone/>
            </a:pPr>
            <a:r>
              <a:rPr lang="en-US" sz="1100" i="1" dirty="0">
                <a:solidFill>
                  <a:srgbClr val="BFE3F7"/>
                </a:solidFill>
                <a:latin typeface="Comic Sans MS" pitchFamily="34" charset="0"/>
                <a:ea typeface="Comic Sans MS" pitchFamily="34" charset="-122"/>
                <a:cs typeface="Comic Sans MS" pitchFamily="34" charset="-120"/>
              </a:rPr>
              <a:t>bakesiga.github.io/usmle-dashboard</a:t>
            </a:r>
            <a:endParaRPr lang="en-US" sz="1100" dirty="0"/>
          </a:p>
        </p:txBody>
      </p:sp>
      <p:sp>
        <p:nvSpPr>
          <p:cNvPr id="32" name="Shape 29"/>
          <p:cNvSpPr/>
          <p:nvPr/>
        </p:nvSpPr>
        <p:spPr>
          <a:xfrm>
            <a:off x="6483096" y="9217152"/>
            <a:ext cx="1115568" cy="1115568"/>
          </a:xfrm>
          <a:prstGeom prst="rect">
            <a:avLst/>
          </a:prstGeom>
          <a:solidFill>
            <a:srgbClr val="FFFFFF"/>
          </a:solidFill>
          <a:ln w="12700">
            <a:solidFill>
              <a:srgbClr val="FFFFFF"/>
            </a:solidFill>
            <a:prstDash val="solid"/>
          </a:ln>
        </p:spPr>
      </p:sp>
      <p:pic>
        <p:nvPicPr>
          <p:cNvPr id="33" name="Image 1" descr="signup_qr.png">    </p:cNvPr>
          <p:cNvPicPr>
            <a:picLocks noChangeAspect="1"/>
          </p:cNvPicPr>
          <p:nvPr/>
        </p:nvPicPr>
        <p:blipFill>
          <a:blip r:embed="rId2"/>
          <a:stretch>
            <a:fillRect/>
          </a:stretch>
        </p:blipFill>
        <p:spPr>
          <a:xfrm>
            <a:off x="6537960" y="9272016"/>
            <a:ext cx="1005840" cy="1005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USMLE Step 1 · June Cohort · Explainer</dc:title>
  <dc:subject>PptxGenJS Presentation</dc:subject>
  <dc:creator>Allan Bakesiga</dc:creator>
  <cp:lastModifiedBy>Allan Bakesiga</cp:lastModifiedBy>
  <cp:revision>1</cp:revision>
  <dcterms:created xsi:type="dcterms:W3CDTF">2026-05-16T13:54:55Z</dcterms:created>
  <dcterms:modified xsi:type="dcterms:W3CDTF">2026-05-16T13:54:55Z</dcterms:modified>
</cp:coreProperties>
</file>