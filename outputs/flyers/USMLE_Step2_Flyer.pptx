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7772400" cy="10058400"/>
  <p:notesSz cx="10058400" cy="7772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7772400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237744"/>
            <a:ext cx="44577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Enrolling now · July–October cohort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457200"/>
            <a:ext cx="4457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spc="800" kern="0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USMLE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457200" y="768096"/>
            <a:ext cx="44577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2 CK</a:t>
            </a:r>
            <a:endParaRPr lang="en-US" sz="5400" dirty="0"/>
          </a:p>
        </p:txBody>
      </p:sp>
      <p:sp>
        <p:nvSpPr>
          <p:cNvPr id="6" name="Text 4"/>
          <p:cNvSpPr/>
          <p:nvPr/>
        </p:nvSpPr>
        <p:spPr>
          <a:xfrm>
            <a:off x="457200" y="1517904"/>
            <a:ext cx="58293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Sharpen clinical reasoning. Move from facts to bedside decisions.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0" y="457200"/>
            <a:ext cx="1828800" cy="9601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0" y="502920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MON–SUN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486400" y="804672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4-month prep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0" y="109728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· daily classes ·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1965960"/>
            <a:ext cx="6858000" cy="1005840"/>
          </a:xfrm>
          <a:prstGeom prst="rect">
            <a:avLst/>
          </a:prstGeom>
          <a:solidFill>
            <a:srgbClr val="F5FBFF"/>
          </a:solidFill>
          <a:ln w="9525">
            <a:solidFill>
              <a:srgbClr val="D6E8F5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0080" y="2130552"/>
            <a:ext cx="713232" cy="71323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2130552"/>
            <a:ext cx="713232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AB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1508760" y="2057400"/>
            <a:ext cx="57607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 Bakesiga, MD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508760" y="2386584"/>
            <a:ext cx="5760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 (Makerere)  ·  MScGH (Duke)  ·  Incoming PGY-1 Neurology, Creighton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1508760" y="2660904"/>
            <a:ext cx="5760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Epidemiology &amp; biostatistics teaching assistant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5720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Mon–Sun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45720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280416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280416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 mo</a:t>
            </a:r>
            <a:endParaRPr lang="en-US" sz="2600" dirty="0"/>
          </a:p>
        </p:txBody>
      </p:sp>
      <p:sp>
        <p:nvSpPr>
          <p:cNvPr id="22" name="Text 20"/>
          <p:cNvSpPr/>
          <p:nvPr/>
        </p:nvSpPr>
        <p:spPr>
          <a:xfrm>
            <a:off x="280416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roadmap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5151120" y="3108960"/>
            <a:ext cx="2164080" cy="960120"/>
          </a:xfrm>
          <a:prstGeom prst="rect">
            <a:avLst/>
          </a:prstGeom>
          <a:solidFill>
            <a:srgbClr val="FEF3C7"/>
          </a:solidFill>
          <a:ln w="12700">
            <a:solidFill>
              <a:srgbClr val="FEF3C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151120" y="3218688"/>
            <a:ext cx="2164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B4530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Step 1+2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5151120" y="3675888"/>
            <a:ext cx="2164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option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572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457200" y="416052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85800" y="436168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858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</a:t>
            </a:r>
            <a:endParaRPr lang="en-US" sz="1800" dirty="0"/>
          </a:p>
        </p:txBody>
      </p:sp>
      <p:sp>
        <p:nvSpPr>
          <p:cNvPr id="30" name="Text 28"/>
          <p:cNvSpPr/>
          <p:nvPr/>
        </p:nvSpPr>
        <p:spPr>
          <a:xfrm>
            <a:off x="12070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classes</a:t>
            </a:r>
            <a:endParaRPr lang="en-US" sz="1500" dirty="0"/>
          </a:p>
        </p:txBody>
      </p:sp>
      <p:sp>
        <p:nvSpPr>
          <p:cNvPr id="31" name="Text 29"/>
          <p:cNvSpPr/>
          <p:nvPr/>
        </p:nvSpPr>
        <p:spPr>
          <a:xfrm>
            <a:off x="12070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Monday to Sunday. Topic-by-topic flow that keeps you in the material every single day.</a:t>
            </a:r>
            <a:endParaRPr lang="en-US" sz="1150" dirty="0"/>
          </a:p>
        </p:txBody>
      </p:sp>
      <p:sp>
        <p:nvSpPr>
          <p:cNvPr id="32" name="Shape 30"/>
          <p:cNvSpPr/>
          <p:nvPr/>
        </p:nvSpPr>
        <p:spPr>
          <a:xfrm>
            <a:off x="4000500" y="4160520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3" name="Shape 31"/>
          <p:cNvSpPr/>
          <p:nvPr/>
        </p:nvSpPr>
        <p:spPr>
          <a:xfrm>
            <a:off x="4000500" y="4160520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4229100" y="4361688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229100" y="4361688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1800" dirty="0"/>
          </a:p>
        </p:txBody>
      </p:sp>
      <p:sp>
        <p:nvSpPr>
          <p:cNvPr id="36" name="Text 34"/>
          <p:cNvSpPr/>
          <p:nvPr/>
        </p:nvSpPr>
        <p:spPr>
          <a:xfrm>
            <a:off x="4750308" y="4325112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community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4750308" y="4654296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Off-class peer discussions, accountability, and rapid Q&amp;A between sessions.</a:t>
            </a:r>
            <a:endParaRPr lang="en-US" sz="1150" dirty="0"/>
          </a:p>
        </p:txBody>
      </p:sp>
      <p:sp>
        <p:nvSpPr>
          <p:cNvPr id="38" name="Shape 36"/>
          <p:cNvSpPr/>
          <p:nvPr/>
        </p:nvSpPr>
        <p:spPr>
          <a:xfrm>
            <a:off x="4572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457200" y="542239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685800" y="56235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6858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3</a:t>
            </a:r>
            <a:endParaRPr lang="en-US" sz="1800" dirty="0"/>
          </a:p>
        </p:txBody>
      </p:sp>
      <p:sp>
        <p:nvSpPr>
          <p:cNvPr id="42" name="Text 40"/>
          <p:cNvSpPr/>
          <p:nvPr/>
        </p:nvSpPr>
        <p:spPr>
          <a:xfrm>
            <a:off x="12070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Textbook + Qbank</a:t>
            </a:r>
            <a:endParaRPr lang="en-US" sz="1500" dirty="0"/>
          </a:p>
        </p:txBody>
      </p:sp>
      <p:sp>
        <p:nvSpPr>
          <p:cNvPr id="43" name="Text 41"/>
          <p:cNvSpPr/>
          <p:nvPr/>
        </p:nvSpPr>
        <p:spPr>
          <a:xfrm>
            <a:off x="12070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review of the recommended textbook plus USMLE-style questions from the recommended Qbank.</a:t>
            </a:r>
            <a:endParaRPr lang="en-US" sz="1150" dirty="0"/>
          </a:p>
        </p:txBody>
      </p:sp>
      <p:sp>
        <p:nvSpPr>
          <p:cNvPr id="44" name="Shape 42"/>
          <p:cNvSpPr/>
          <p:nvPr/>
        </p:nvSpPr>
        <p:spPr>
          <a:xfrm>
            <a:off x="4000500" y="5422392"/>
            <a:ext cx="3314700" cy="1097280"/>
          </a:xfrm>
          <a:prstGeom prst="rect">
            <a:avLst/>
          </a:prstGeom>
          <a:solidFill>
            <a:srgbClr val="FFFFFF"/>
          </a:solidFill>
          <a:ln w="9525">
            <a:solidFill>
              <a:srgbClr val="D6E8F5"/>
            </a:solidFill>
            <a:prstDash val="solid"/>
          </a:ln>
          <a:effectLst>
            <a:outerShdw sx="100000" sy="100000" kx="0" ky="0" algn="bl" rotWithShape="0" blurRad="101600" dist="12700" dir="5400000">
              <a:srgbClr val="0C2A3D">
                <a:alpha val="8000"/>
              </a:srgbClr>
            </a:outerShdw>
          </a:effectLst>
        </p:spPr>
      </p:sp>
      <p:sp>
        <p:nvSpPr>
          <p:cNvPr id="45" name="Shape 43"/>
          <p:cNvSpPr/>
          <p:nvPr/>
        </p:nvSpPr>
        <p:spPr>
          <a:xfrm>
            <a:off x="4000500" y="5422392"/>
            <a:ext cx="91440" cy="109728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4229100" y="5623560"/>
            <a:ext cx="438912" cy="438912"/>
          </a:xfrm>
          <a:prstGeom prst="ellipse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4229100" y="5623560"/>
            <a:ext cx="43891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4</a:t>
            </a:r>
            <a:endParaRPr lang="en-US" sz="1800" dirty="0"/>
          </a:p>
        </p:txBody>
      </p:sp>
      <p:sp>
        <p:nvSpPr>
          <p:cNvPr id="48" name="Text 46"/>
          <p:cNvSpPr/>
          <p:nvPr/>
        </p:nvSpPr>
        <p:spPr>
          <a:xfrm>
            <a:off x="4750308" y="5586984"/>
            <a:ext cx="247345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End-to-end mentorship</a:t>
            </a:r>
            <a:endParaRPr lang="en-US" sz="1500" dirty="0"/>
          </a:p>
        </p:txBody>
      </p:sp>
      <p:sp>
        <p:nvSpPr>
          <p:cNvPr id="49" name="Text 47"/>
          <p:cNvSpPr/>
          <p:nvPr/>
        </p:nvSpPr>
        <p:spPr>
          <a:xfrm>
            <a:off x="4750308" y="5916168"/>
            <a:ext cx="247345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345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Guidance through ECFMG, CV, personal statement, interview prep, and residency application.</a:t>
            </a:r>
            <a:endParaRPr lang="en-US" sz="1150" dirty="0"/>
          </a:p>
        </p:txBody>
      </p:sp>
      <p:sp>
        <p:nvSpPr>
          <p:cNvPr id="50" name="Text 48"/>
          <p:cNvSpPr/>
          <p:nvPr/>
        </p:nvSpPr>
        <p:spPr>
          <a:xfrm>
            <a:off x="457200" y="658368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COVER</a:t>
            </a:r>
            <a:endParaRPr lang="en-US" sz="1100" dirty="0"/>
          </a:p>
        </p:txBody>
      </p:sp>
      <p:sp>
        <p:nvSpPr>
          <p:cNvPr id="51" name="Text 49"/>
          <p:cNvSpPr/>
          <p:nvPr/>
        </p:nvSpPr>
        <p:spPr>
          <a:xfrm>
            <a:off x="457200" y="6894576"/>
            <a:ext cx="6858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 Medicine  ·  Surgery  ·  OB-GYN  ·  Pediatrics  ·  Psychiatry  ·  Family Medicine  ·  Preventive Medicine  ·  Ethics  ·  Biostatistics  ·  Patient Safety</a:t>
            </a:r>
            <a:endParaRPr lang="en-US" sz="1250" dirty="0"/>
          </a:p>
        </p:txBody>
      </p:sp>
      <p:sp>
        <p:nvSpPr>
          <p:cNvPr id="52" name="Shape 50"/>
          <p:cNvSpPr/>
          <p:nvPr/>
        </p:nvSpPr>
        <p:spPr>
          <a:xfrm>
            <a:off x="457200" y="7909560"/>
            <a:ext cx="6858000" cy="77724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457200" y="7909560"/>
            <a:ext cx="91440" cy="777240"/>
          </a:xfrm>
          <a:prstGeom prst="rect">
            <a:avLst/>
          </a:prstGeom>
          <a:solidFill>
            <a:srgbClr val="0284C7"/>
          </a:solidFill>
          <a:ln w="12700">
            <a:solidFill>
              <a:srgbClr val="0284C7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731520" y="7982712"/>
            <a:ext cx="6492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Doing both Step 1 &amp; 2?</a:t>
            </a:r>
            <a:endParaRPr lang="en-US" sz="1400" dirty="0"/>
          </a:p>
        </p:txBody>
      </p:sp>
      <p:sp>
        <p:nvSpPr>
          <p:cNvPr id="55" name="Text 53"/>
          <p:cNvSpPr/>
          <p:nvPr/>
        </p:nvSpPr>
        <p:spPr>
          <a:xfrm>
            <a:off x="731520" y="8257032"/>
            <a:ext cx="6492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Take the expedited combined prep — overlapping topics taught once, reinforced across both Steps. Save time, retain more.</a:t>
            </a:r>
            <a:endParaRPr lang="en-US" sz="1150" dirty="0"/>
          </a:p>
        </p:txBody>
      </p:sp>
      <p:sp>
        <p:nvSpPr>
          <p:cNvPr id="56" name="Text 54"/>
          <p:cNvSpPr/>
          <p:nvPr/>
        </p:nvSpPr>
        <p:spPr>
          <a:xfrm>
            <a:off x="457200" y="873252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 UP</a:t>
            </a:r>
            <a:endParaRPr lang="en-US" sz="1100" dirty="0"/>
          </a:p>
        </p:txBody>
      </p:sp>
      <p:sp>
        <p:nvSpPr>
          <p:cNvPr id="57" name="Text 55"/>
          <p:cNvSpPr/>
          <p:nvPr/>
        </p:nvSpPr>
        <p:spPr>
          <a:xfrm>
            <a:off x="457200" y="8915400"/>
            <a:ext cx="685800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97706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bakesiga.github.io/usmle-dashboard</a:t>
            </a:r>
            <a:endParaRPr lang="en-US" sz="2400" dirty="0"/>
          </a:p>
        </p:txBody>
      </p:sp>
      <p:sp>
        <p:nvSpPr>
          <p:cNvPr id="58" name="Shape 56"/>
          <p:cNvSpPr/>
          <p:nvPr/>
        </p:nvSpPr>
        <p:spPr>
          <a:xfrm>
            <a:off x="457200" y="9427464"/>
            <a:ext cx="164592" cy="164592"/>
          </a:xfrm>
          <a:prstGeom prst="ellipse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94944" y="9372600"/>
            <a:ext cx="30998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allanbakesiga@gmail.com</a:t>
            </a:r>
            <a:endParaRPr lang="en-US" sz="1250" dirty="0"/>
          </a:p>
        </p:txBody>
      </p:sp>
      <p:pic>
        <p:nvPicPr>
          <p:cNvPr id="60" name="Image 0" descr="whatsapp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977640" y="9390888"/>
            <a:ext cx="237744" cy="237744"/>
          </a:xfrm>
          <a:prstGeom prst="rect">
            <a:avLst/>
          </a:prstGeom>
        </p:spPr>
      </p:pic>
      <p:sp>
        <p:nvSpPr>
          <p:cNvPr id="61" name="Text 58"/>
          <p:cNvSpPr/>
          <p:nvPr/>
        </p:nvSpPr>
        <p:spPr>
          <a:xfrm>
            <a:off x="4288536" y="9372600"/>
            <a:ext cx="2843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C2A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WhatsApp · +256 705 571 443</a:t>
            </a:r>
            <a:endParaRPr lang="en-US" sz="1250" dirty="0"/>
          </a:p>
        </p:txBody>
      </p:sp>
      <p:sp>
        <p:nvSpPr>
          <p:cNvPr id="62" name="Text 59"/>
          <p:cNvSpPr/>
          <p:nvPr/>
        </p:nvSpPr>
        <p:spPr>
          <a:xfrm>
            <a:off x="457200" y="9683496"/>
            <a:ext cx="6858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i="1" dirty="0">
                <a:solidFill>
                  <a:srgbClr val="6B87A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Limited cohort · Sign in with the Gmail Allan adds you under</a:t>
            </a:r>
            <a:endParaRPr lang="en-US" sz="950" dirty="0"/>
          </a:p>
        </p:txBody>
      </p:sp>
      <p:sp>
        <p:nvSpPr>
          <p:cNvPr id="63" name="Shape 60"/>
          <p:cNvSpPr/>
          <p:nvPr/>
        </p:nvSpPr>
        <p:spPr>
          <a:xfrm>
            <a:off x="0" y="9875520"/>
            <a:ext cx="7772400" cy="457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4" name="Shape 61"/>
          <p:cNvSpPr/>
          <p:nvPr/>
        </p:nvSpPr>
        <p:spPr>
          <a:xfrm>
            <a:off x="0" y="9921240"/>
            <a:ext cx="7772400" cy="13716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USMLE Step 2 CK — Class Flyer</dc:title>
  <dc:subject>PptxGenJS Presentation</dc:subject>
  <dc:creator>Allan Bakesiga</dc:creator>
  <cp:lastModifiedBy>Allan Bakesiga</cp:lastModifiedBy>
  <cp:revision>1</cp:revision>
  <dcterms:created xsi:type="dcterms:W3CDTF">2026-05-01T22:54:14Z</dcterms:created>
  <dcterms:modified xsi:type="dcterms:W3CDTF">2026-05-01T22:54:14Z</dcterms:modified>
</cp:coreProperties>
</file>