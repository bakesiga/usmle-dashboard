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8288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44577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Enrolling now · July–October cohort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4457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USMLE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68096"/>
            <a:ext cx="44577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58293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 foundational sciences. Build the base every step rests 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0" y="457200"/>
            <a:ext cx="1828800" cy="960120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0" y="502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MON–SUN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0" y="804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4-month prep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daily classes ·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6858000" cy="1005840"/>
          </a:xfrm>
          <a:prstGeom prst="rect">
            <a:avLst/>
          </a:prstGeom>
          <a:solidFill>
            <a:srgbClr val="F5FBFF"/>
          </a:solidFill>
          <a:ln w="9525">
            <a:solidFill>
              <a:srgbClr val="D6E8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" y="2093976"/>
            <a:ext cx="786384" cy="78638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3" name="Image 0" descr="alla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130552"/>
            <a:ext cx="713232" cy="713232"/>
          </a:xfrm>
          <a:prstGeom prst="ellipse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08760" y="205740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Allan Bakesiga, MD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508760" y="238658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(Makerere)  ·  MScGH (Duke)  ·  PGY-1 Neurology Resident, Creighton University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508760" y="266090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Assistant  |  Epidemiology &amp; Biostatistics, Duke Global Health Institute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3108960"/>
            <a:ext cx="2164080" cy="96012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218688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759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Mon–Sun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457200" y="3675888"/>
            <a:ext cx="216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classes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804160" y="3108960"/>
            <a:ext cx="2164080" cy="96012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804160" y="3218688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759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months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2804160" y="3675888"/>
            <a:ext cx="216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roadmap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151120" y="3108960"/>
            <a:ext cx="2164080" cy="96012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51120" y="3218688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759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1+2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5151120" y="3675888"/>
            <a:ext cx="216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option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4160520"/>
            <a:ext cx="33147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0C2A3D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7200" y="4160520"/>
            <a:ext cx="91440" cy="10972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85800" y="4361688"/>
            <a:ext cx="438912" cy="438912"/>
          </a:xfrm>
          <a:prstGeom prst="ellipse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5800" y="4361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207008" y="4325112"/>
            <a:ext cx="247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classes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1207008" y="4654296"/>
            <a:ext cx="24734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to Sunday. Topic-by-topic flow that keeps you in the material every single day.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000500" y="4160520"/>
            <a:ext cx="33147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0C2A3D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000500" y="4160520"/>
            <a:ext cx="91440" cy="10972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229100" y="4361688"/>
            <a:ext cx="438912" cy="438912"/>
          </a:xfrm>
          <a:prstGeom prst="ellipse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229100" y="4361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4750308" y="4325112"/>
            <a:ext cx="247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community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4750308" y="4654296"/>
            <a:ext cx="24734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Off-class peer discussions, accountability, and rapid Q&amp;A between sessions.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457200" y="5422392"/>
            <a:ext cx="33147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0C2A3D">
                <a:alpha val="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57200" y="5422392"/>
            <a:ext cx="91440" cy="10972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85800" y="5623560"/>
            <a:ext cx="438912" cy="438912"/>
          </a:xfrm>
          <a:prstGeom prst="ellipse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5800" y="5623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1207008" y="5586984"/>
            <a:ext cx="247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+ Qbank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1207008" y="5916168"/>
            <a:ext cx="24734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review of the recommended textbook plus USMLE-style questions from the recommended Qbank.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4000500" y="5422392"/>
            <a:ext cx="33147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0C2A3D">
                <a:alpha val="8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4000500" y="5422392"/>
            <a:ext cx="91440" cy="10972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229100" y="5623560"/>
            <a:ext cx="438912" cy="438912"/>
          </a:xfrm>
          <a:prstGeom prst="ellipse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229100" y="5623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48" name="Text 45"/>
          <p:cNvSpPr/>
          <p:nvPr/>
        </p:nvSpPr>
        <p:spPr>
          <a:xfrm>
            <a:off x="4750308" y="5586984"/>
            <a:ext cx="247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mentorship</a:t>
            </a:r>
            <a:endParaRPr lang="en-US" sz="1500" dirty="0"/>
          </a:p>
        </p:txBody>
      </p:sp>
      <p:sp>
        <p:nvSpPr>
          <p:cNvPr id="49" name="Text 46"/>
          <p:cNvSpPr/>
          <p:nvPr/>
        </p:nvSpPr>
        <p:spPr>
          <a:xfrm>
            <a:off x="4750308" y="5916168"/>
            <a:ext cx="24734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through the ECFMG application, CV, personal statement, interview prep, and the residency match.</a:t>
            </a:r>
            <a:endParaRPr lang="en-US" sz="1150" dirty="0"/>
          </a:p>
        </p:txBody>
      </p:sp>
      <p:sp>
        <p:nvSpPr>
          <p:cNvPr id="50" name="Text 47"/>
          <p:cNvSpPr/>
          <p:nvPr/>
        </p:nvSpPr>
        <p:spPr>
          <a:xfrm>
            <a:off x="457200" y="6583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457200" y="689457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Disciplines:  </a:t>
            </a:r>
            <a:pPr indent="0" marL="0">
              <a:buNone/>
            </a:pPr>
            <a:r>
              <a:rPr lang="en-US" sz="1250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 ·  Physiology  ·  Biochemistry  ·  Pathology  ·  Pharmacology  ·  Microbiology  ·  Immunology  ·  Behavioral science  ·  Biostatistics  ·  Genetics</a:t>
            </a:r>
            <a:endParaRPr lang="en-US" sz="1250" dirty="0"/>
          </a:p>
        </p:txBody>
      </p:sp>
      <p:sp>
        <p:nvSpPr>
          <p:cNvPr id="52" name="Text 49"/>
          <p:cNvSpPr/>
          <p:nvPr/>
        </p:nvSpPr>
        <p:spPr>
          <a:xfrm>
            <a:off x="457200" y="739749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 systems:  </a:t>
            </a:r>
            <a:pPr indent="0" marL="0">
              <a:buNone/>
            </a:pPr>
            <a:r>
              <a:rPr lang="en-US" sz="1250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 ·  Respiratory  ·  Gastrointestinal  ·  Renal  ·  Reproductive  ·  Endocrine  ·  Musculoskeletal  ·  Nervous system  ·  Psychiatry  ·  Heme/Onc  ·  Skin</a:t>
            </a:r>
            <a:endParaRPr lang="en-US" sz="1250" dirty="0"/>
          </a:p>
        </p:txBody>
      </p:sp>
      <p:sp>
        <p:nvSpPr>
          <p:cNvPr id="53" name="Shape 50"/>
          <p:cNvSpPr/>
          <p:nvPr/>
        </p:nvSpPr>
        <p:spPr>
          <a:xfrm>
            <a:off x="457200" y="7946136"/>
            <a:ext cx="6858000" cy="777240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57200" y="7946136"/>
            <a:ext cx="91440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31520" y="801928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both Step 1 &amp; 2?</a:t>
            </a:r>
            <a:endParaRPr lang="en-US" sz="1400" dirty="0"/>
          </a:p>
        </p:txBody>
      </p:sp>
      <p:sp>
        <p:nvSpPr>
          <p:cNvPr id="56" name="Text 53"/>
          <p:cNvSpPr/>
          <p:nvPr/>
        </p:nvSpPr>
        <p:spPr>
          <a:xfrm>
            <a:off x="731520" y="8293608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expedited combined prep — overlapping topics taught once, reinforced across both Steps. Save time, retain more.</a:t>
            </a:r>
            <a:endParaRPr lang="en-US" sz="1150" dirty="0"/>
          </a:p>
        </p:txBody>
      </p:sp>
      <p:sp>
        <p:nvSpPr>
          <p:cNvPr id="57" name="Text 54"/>
          <p:cNvSpPr/>
          <p:nvPr/>
        </p:nvSpPr>
        <p:spPr>
          <a:xfrm>
            <a:off x="457200" y="868680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SIGN UP, CONTACT ALLAN ON:</a:t>
            </a:r>
            <a:endParaRPr lang="en-US" sz="1100" dirty="0"/>
          </a:p>
        </p:txBody>
      </p:sp>
      <p:pic>
        <p:nvPicPr>
          <p:cNvPr id="58" name="Image 1" descr="email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933688"/>
            <a:ext cx="237744" cy="237744"/>
          </a:xfrm>
          <a:prstGeom prst="rect">
            <a:avLst/>
          </a:prstGeom>
        </p:spPr>
      </p:pic>
      <p:sp>
        <p:nvSpPr>
          <p:cNvPr id="59" name="Text 55"/>
          <p:cNvSpPr/>
          <p:nvPr/>
        </p:nvSpPr>
        <p:spPr>
          <a:xfrm>
            <a:off x="768096" y="8906256"/>
            <a:ext cx="20263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allanbakesiga@gmail.com</a:t>
            </a:r>
            <a:endParaRPr lang="en-US" sz="1200" dirty="0"/>
          </a:p>
        </p:txBody>
      </p:sp>
      <p:pic>
        <p:nvPicPr>
          <p:cNvPr id="60" name="Image 2" descr="whatsap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610" y="8924544"/>
            <a:ext cx="256032" cy="256032"/>
          </a:xfrm>
          <a:prstGeom prst="rect">
            <a:avLst/>
          </a:prstGeom>
        </p:spPr>
      </p:pic>
      <p:sp>
        <p:nvSpPr>
          <p:cNvPr id="61" name="Text 56"/>
          <p:cNvSpPr/>
          <p:nvPr/>
        </p:nvSpPr>
        <p:spPr>
          <a:xfrm>
            <a:off x="3377794" y="8906256"/>
            <a:ext cx="14374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+256 705 571 443</a:t>
            </a:r>
            <a:endParaRPr lang="en-US" sz="1200" dirty="0"/>
          </a:p>
        </p:txBody>
      </p:sp>
      <p:pic>
        <p:nvPicPr>
          <p:cNvPr id="62" name="Image 3" descr="phone-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8933688"/>
            <a:ext cx="237744" cy="237744"/>
          </a:xfrm>
          <a:prstGeom prst="rect">
            <a:avLst/>
          </a:prstGeom>
        </p:spPr>
      </p:pic>
      <p:sp>
        <p:nvSpPr>
          <p:cNvPr id="63" name="Text 57"/>
          <p:cNvSpPr/>
          <p:nvPr/>
        </p:nvSpPr>
        <p:spPr>
          <a:xfrm>
            <a:off x="5751576" y="8906256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+1 984 710 2902</a:t>
            </a:r>
            <a:endParaRPr lang="en-US" sz="1200" dirty="0"/>
          </a:p>
        </p:txBody>
      </p:sp>
      <p:sp>
        <p:nvSpPr>
          <p:cNvPr id="64" name="Text 58"/>
          <p:cNvSpPr/>
          <p:nvPr/>
        </p:nvSpPr>
        <p:spPr>
          <a:xfrm>
            <a:off x="457200" y="925372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enrolled, you'll be granted access to all course materials at:</a:t>
            </a:r>
            <a:endParaRPr lang="en-US" sz="1050" dirty="0"/>
          </a:p>
        </p:txBody>
      </p:sp>
      <p:sp>
        <p:nvSpPr>
          <p:cNvPr id="65" name="Text 59"/>
          <p:cNvSpPr/>
          <p:nvPr/>
        </p:nvSpPr>
        <p:spPr>
          <a:xfrm>
            <a:off x="457200" y="945489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bakesiga.github.io/usmle-dashboard</a:t>
            </a:r>
            <a:endParaRPr lang="en-US" sz="2200" dirty="0"/>
          </a:p>
        </p:txBody>
      </p:sp>
      <p:sp>
        <p:nvSpPr>
          <p:cNvPr id="66" name="Shape 60"/>
          <p:cNvSpPr/>
          <p:nvPr/>
        </p:nvSpPr>
        <p:spPr>
          <a:xfrm>
            <a:off x="0" y="9875520"/>
            <a:ext cx="7772400" cy="45720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0" y="9921240"/>
            <a:ext cx="7772400" cy="13716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USMLE Step 1 — Class Flyer</dc:title>
  <dc:subject>PptxGenJS Presentation</dc:subject>
  <dc:creator>Allan Bakesiga</dc:creator>
  <cp:lastModifiedBy>Allan Bakesiga</cp:lastModifiedBy>
  <cp:revision>1</cp:revision>
  <dcterms:created xsi:type="dcterms:W3CDTF">2026-05-02T02:43:22Z</dcterms:created>
  <dcterms:modified xsi:type="dcterms:W3CDTF">2026-05-02T02:43:22Z</dcterms:modified>
</cp:coreProperties>
</file>