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5425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INFO SESSION  ·  JUNE COHORT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542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+ Step 2 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25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 Session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42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questions about the cohort. Open Q&amp;A — no commitment.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2743200" cy="10972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 9, 2026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57332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AM EDT  ·  6 PM EAT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94152" y="1280160"/>
            <a:ext cx="3291840" cy="32918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0" descr="all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85592" y="1371600"/>
            <a:ext cx="3108960" cy="3108960"/>
          </a:xfrm>
          <a:prstGeom prst="ellipse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071192" y="4754880"/>
            <a:ext cx="47547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Bakesiga, MD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71192" y="5120640"/>
            <a:ext cx="475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(Makerere)  ·  MScGH (Duke)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71192" y="5376672"/>
            <a:ext cx="475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PGY-1 Neurology Resident, Creighton University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71192" y="5650992"/>
            <a:ext cx="4754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 |  Epi &amp; Biostats, Duke Global Health Institute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RESIDENCY JOURNEY  ·  IMG PATH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medical school to Match Day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1288" y="198424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ECFMG eligibility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229514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school listed in the World Directory of Medical Schools with appropriate ECFMG Sponsor Note. Submit credentials to ECFMG.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87452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0168" y="214884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91376" y="198424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Step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1376" y="229514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(currently reported as Pass / Fail). Required for ECFMG Certification.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1288" y="303580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Step 2 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1288" y="334670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with a strong scaled score. Reported scores range 1–300 (mean ≈ 248). Required for ECFMG Certification.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3008" y="292608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168" y="320040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0168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91376" y="303580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proficiency (OET Medicine)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91376" y="334670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350+ on each of the 4 subtests within a single test administration.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97764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61288" y="408736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ECFMG Certification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61288" y="439826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after Step 1, Step 2 CK, OET, and verified medical credentials.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33008" y="397764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0168" y="425196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0168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91376" y="408736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 application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91376" y="439826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through ERAS (opens early September). Personal statement, CV, LoRs, MSPE.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02920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30352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61288" y="513892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season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61288" y="544982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to January. Programs review, interview, and rank applicants.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33008" y="5029200"/>
            <a:ext cx="5455768" cy="96012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0168" y="530352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0168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91376" y="513892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NRMP Match Day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91376" y="5449824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rank-order list in late February. Match results in mid-March.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621792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ecfmg.org · USMLE.org · NRMP.org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4114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ROADMAP  ·  MYINTEALTH → STEP 2 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account to exam — 8 concrete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91440" cy="10241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14884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6152" y="1965960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MyIntealth account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45456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16152" y="2295144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first. Name as on passport, DOB, address, school info, plus identity verification. One MyIntealth ID, forever.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3008" y="1874520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91440" cy="10241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4176" y="2148840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4176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6240" y="1965960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name of record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5543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6240" y="2295144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your passport exactly. Different name on diploma → submit verification documentation.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990088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990088"/>
            <a:ext cx="91440" cy="10241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3264408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16152" y="3081528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 ECFMG Cert.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45456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16152" y="3410712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fee. Medical school must be in the World Directory with ECFMG Sponsor Note (Graduation Years: Current). Track in My Cases.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3008" y="2990088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3008" y="2990088"/>
            <a:ext cx="91440" cy="102412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4176" y="3264408"/>
            <a:ext cx="411480" cy="41148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4176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6240" y="3081528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medical credentials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5543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34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6240" y="3410712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diploma + transcript (+ English translations). ECFMG verifies with the issuing institution before the application is accepted.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105656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105656"/>
            <a:ext cx="9144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" y="4379976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379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16152" y="4197096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USMLE ID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45456" y="4197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16152" y="4526280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Jan 2026 USMLE Service Transition, FSMB issues this when you register for your first Step. View in My Profile.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33008" y="4105656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3008" y="4105656"/>
            <a:ext cx="9144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4176" y="4379976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4176" y="4379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946240" y="4197096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USMLE Step 1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75543" y="4197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6240" y="4526280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FSMB. FSMB confirms with ECFMG that you're eligible. Students need school official to certify enrollment.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5221224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5221224"/>
            <a:ext cx="9144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" y="5495544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16152" y="5312664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Step 1  ·  Pass / Fail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45456" y="5312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216152" y="5641848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 shares the outcome directly with ECFMG. You don't need to forward the result yourself.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33008" y="5221224"/>
            <a:ext cx="5455768" cy="1024128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33008" y="5221224"/>
            <a:ext cx="9144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34176" y="5495544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34176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946240" y="5312664"/>
            <a:ext cx="408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USMLE Step 2 CK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975543" y="5312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946240" y="5641848"/>
            <a:ext cx="461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eligibility chain. Plan timing carefully — NRMP and GME programs have deadlines, and ECFMG warns slot availability isn't guaranteed.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2920" y="621792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ECFMG 2026 Information Booklet (page references in upper right of each card).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PREP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Foundational sciences. Pass / Fail.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46980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37836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foundational science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86579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7836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86579" y="2560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7836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interpersonal skills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86579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7836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medicine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86579" y="3291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46980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3600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blocks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03699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581144"/>
            <a:ext cx="3600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(max)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03699" y="4581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910328"/>
            <a:ext cx="3600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day length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03699" y="4910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239512"/>
            <a:ext cx="3600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03699" y="5239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5299" y="1874520"/>
            <a:ext cx="6213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CONTENT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75299" y="2194560"/>
            <a:ext cx="6213476" cy="150876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5299" y="2194560"/>
            <a:ext cx="91440" cy="1508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9619" y="2331720"/>
            <a:ext cx="5847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49619" y="2651760"/>
            <a:ext cx="5847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· Physiology · Biochemistry · Pharmacology · Anatomy &amp; Embryology · Microbiology · Immunology · Histology · Behavioral Sciences · Genetics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75299" y="3886200"/>
            <a:ext cx="6213476" cy="1508760"/>
          </a:xfrm>
          <a:prstGeom prst="rect">
            <a:avLst/>
          </a:prstGeom>
          <a:solidFill>
            <a:srgbClr val="F5FBFF"/>
          </a:solidFill>
          <a:ln w="9525">
            <a:solidFill>
              <a:srgbClr val="D6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75299" y="3886200"/>
            <a:ext cx="91440" cy="1508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9619" y="4023360"/>
            <a:ext cx="5847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systems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49619" y="4343400"/>
            <a:ext cx="5847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Principles · Cardiovascular · Respiratory · GI · Renal/Urinary · Reproductive &amp; Endocrine · MSK &amp; Skin · Nervous &amp; Behavioral · Heme &amp; Immune · Biostats &amp; Epi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59893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master First Aid + UWorld with daily Mon–Sun reps over a 4-month roadmap.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26364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usmle.org Step 1 content outline + FA 2025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CK PREP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Clinical knowledge. Scaled score 1–300.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46980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3783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86579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34–46%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3783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Pharmacotherapy &amp;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86579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3783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maintenance &amp; prevention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86579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3783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/ professionalism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86579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37836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/ systems-based practice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86579" y="3511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46980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332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blocks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29379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672584"/>
            <a:ext cx="332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(max)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29379" y="4672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001768"/>
            <a:ext cx="332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day 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29379" y="5001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330952"/>
            <a:ext cx="3326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scale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29379" y="5330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300 (mean ≈ 248)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75299" y="1874520"/>
            <a:ext cx="6213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CONTENT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75299" y="2194560"/>
            <a:ext cx="6213476" cy="1508760"/>
          </a:xfrm>
          <a:prstGeom prst="rect">
            <a:avLst/>
          </a:prstGeom>
          <a:solidFill>
            <a:srgbClr val="FEF3C7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5299" y="2194560"/>
            <a:ext cx="9144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9619" y="2331720"/>
            <a:ext cx="5847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49619" y="2651760"/>
            <a:ext cx="5847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Medicine (50–60%) · Surgery (25–30%) · Pediatrics (20–25%) · OB-GYN (10–20%) · Psychiatry (10–15%) · Family Medicine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75299" y="3886200"/>
            <a:ext cx="6213476" cy="1508760"/>
          </a:xfrm>
          <a:prstGeom prst="rect">
            <a:avLst/>
          </a:prstGeom>
          <a:solidFill>
            <a:srgbClr val="FEF3C7"/>
          </a:solidFill>
          <a:ln w="9525">
            <a:solidFill>
              <a:srgbClr val="EAB30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75299" y="3886200"/>
            <a:ext cx="9144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9619" y="4023360"/>
            <a:ext cx="58477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systems &amp; cross-cutting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49619" y="4343400"/>
            <a:ext cx="5847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· GI · Respiratory · MSK &amp; Skin · Nervous &amp; Behavioral · Endocrine · Reproductive &amp; Pregnancy · Renal · Heme &amp; Immune · Multisystem · Ethics &amp; Patient Safety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59893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case-based teaching across all disciplines, daily UWorld blocks, full FA 2025 mapping.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26364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usmle.org Step 2 CK content outline + FA 2025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CLASSES WORK  ·  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structure — Mon to Sun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45738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3545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Mon–Sun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classes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920240"/>
            <a:ext cx="3545738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2978" y="2011680"/>
            <a:ext cx="3545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months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22978" y="260604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roadmap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43037" y="1920240"/>
            <a:ext cx="3545738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3037" y="2011680"/>
            <a:ext cx="35457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59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+ 2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43037" y="2606040"/>
            <a:ext cx="3545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269359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27000" dist="12700" dir="5400000">
              <a:srgbClr val="0C2A3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83280"/>
            <a:ext cx="2693594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teaching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66344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 focused teaching mapped page-by-page to First Aid 2025.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3674" y="3383280"/>
            <a:ext cx="269359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27000" dist="12700" dir="5400000">
              <a:srgbClr val="0C2A3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3674" y="3383280"/>
            <a:ext cx="269359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07994" y="365760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07994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07994" y="4251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UWorld debrief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07994" y="466344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day's UWorld block with reasoning for every option.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64428" y="3383280"/>
            <a:ext cx="269359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27000" dist="12700" dir="5400000">
              <a:srgbClr val="0C2A3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4428" y="3383280"/>
            <a:ext cx="2693594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8748" y="3657600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874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38748" y="4251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wrap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38748" y="466344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mnemonic / pearls recap that you take into the next day.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95181" y="3383280"/>
            <a:ext cx="2693594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sx="100000" sy="100000" kx="0" ky="0" algn="bl" rotWithShape="0" blurRad="127000" dist="12700" dir="5400000">
              <a:srgbClr val="0C2A3D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95181" y="3383280"/>
            <a:ext cx="269359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69501" y="365760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9501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269501" y="4251960"/>
            <a:ext cx="2144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269501" y="4663440"/>
            <a:ext cx="21449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 outside class time for clarifying questions and weak areas.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4114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CLASSES WORK  ·  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4-month roadmap + end-to-end mentorship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659304" cy="1417320"/>
          </a:xfrm>
          <a:prstGeom prst="rect">
            <a:avLst/>
          </a:prstGeom>
          <a:solidFill>
            <a:srgbClr val="F5FBFF"/>
          </a:solidFill>
          <a:ln w="9525">
            <a:solidFill>
              <a:srgbClr val="B8D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2659304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265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286000"/>
            <a:ext cx="233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· Respiratory · General Pathology · Epi/Biostats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5104" y="1874520"/>
            <a:ext cx="2659304" cy="1417320"/>
          </a:xfrm>
          <a:prstGeom prst="rect">
            <a:avLst/>
          </a:prstGeom>
          <a:solidFill>
            <a:srgbClr val="F5FBFF"/>
          </a:solidFill>
          <a:ln w="9525">
            <a:solidFill>
              <a:srgbClr val="B8D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5104" y="1874520"/>
            <a:ext cx="2659304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5104" y="1874520"/>
            <a:ext cx="265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9696" y="2286000"/>
            <a:ext cx="233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· GI · Heme/Onc · Renal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7288" y="1874520"/>
            <a:ext cx="2659304" cy="1417320"/>
          </a:xfrm>
          <a:prstGeom prst="rect">
            <a:avLst/>
          </a:prstGeom>
          <a:solidFill>
            <a:srgbClr val="F5FBFF"/>
          </a:solidFill>
          <a:ln w="9525">
            <a:solidFill>
              <a:srgbClr val="B8D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7288" y="1874520"/>
            <a:ext cx="2659304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7288" y="1874520"/>
            <a:ext cx="265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1880" y="2286000"/>
            <a:ext cx="233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· Neurology · Psychiatry · Reproductive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29471" y="1874520"/>
            <a:ext cx="2659304" cy="1417320"/>
          </a:xfrm>
          <a:prstGeom prst="rect">
            <a:avLst/>
          </a:prstGeom>
          <a:solidFill>
            <a:srgbClr val="F5FBFF"/>
          </a:solidFill>
          <a:ln w="9525">
            <a:solidFill>
              <a:srgbClr val="B8D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9471" y="1874520"/>
            <a:ext cx="2659304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9471" y="1874520"/>
            <a:ext cx="2659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94063" y="2286000"/>
            <a:ext cx="233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5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/ Microbiology · Pharmacology · Behavioral · Mock blocks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MENTORSHIP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02336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68496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ECFMG application — credentials submission, sponsor notes, EPIC.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407408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35254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statement &amp; CV review, with iterative drafts.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791456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736592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— mock interviews, IMG-specific Q&amp;A, programs by signal.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175504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 / NRMP timeline coaching from application to rank list.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555955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0468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Step 1 + Step 2 expedited track for efficient overlap.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59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 THE COHORT?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up · Limited slots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bakesiga.github.io/usmle-dashboard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907128" y="3200400"/>
            <a:ext cx="2377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forms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329184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4864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reach Allan directly: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58521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allanbakesiga@gmail.com   ·   WhatsApp +256 705 571 443   ·   Call +1 984 710 2902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7830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Allan's USMLE Class · June Cohort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Info Session — June Cohort</dc:title>
  <dc:subject>PptxGenJS Presentation</dc:subject>
  <dc:creator>Allan Bakesiga</dc:creator>
  <cp:lastModifiedBy>Allan Bakesiga</cp:lastModifiedBy>
  <cp:revision>1</cp:revision>
  <dcterms:created xsi:type="dcterms:W3CDTF">2026-05-09T13:30:59Z</dcterms:created>
  <dcterms:modified xsi:type="dcterms:W3CDTF">2026-05-09T13:30:59Z</dcterms:modified>
</cp:coreProperties>
</file>