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9" d="100"/>
          <a:sy n="119" d="100"/>
        </p:scale>
        <p:origin x="50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704029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74320"/>
            <a:ext cx="6705432" cy="685800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705432" y="0"/>
            <a:ext cx="5486263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5425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USMLE INFO SESSION  ·  JUNE COHORT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1207008"/>
            <a:ext cx="5425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1 + Step 2 CK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1783080"/>
            <a:ext cx="54252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Info Session</a:t>
            </a:r>
            <a:endParaRPr lang="en-US" sz="68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5425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your questions about the cohort. Open Q&amp;A — no commitment.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" y="5029200"/>
            <a:ext cx="2743200" cy="1097280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40080" y="5074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53492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MAY 9, 2026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40080" y="573328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AM EDT  ·  6 PM EAT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894152" y="1280160"/>
            <a:ext cx="3291840" cy="329184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3" name="Image 0" descr="allan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985592" y="1371600"/>
            <a:ext cx="3108960" cy="3108960"/>
          </a:xfrm>
          <a:prstGeom prst="ellipse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7071192" y="4754880"/>
            <a:ext cx="475474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 Bakesiga, MD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7071192" y="5120640"/>
            <a:ext cx="47547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 (Makerere)  ·  MScGH (Duke)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7071192" y="5376672"/>
            <a:ext cx="47547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PGY-1 Neurology Resident, Creighton University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7071192" y="5650992"/>
            <a:ext cx="47547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Assistant  |  Epi &amp; Biostats, Duke Global Health Institute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02920" y="6492240"/>
            <a:ext cx="78300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Allan's USMLE Class · June Cohort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1114013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8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017" cy="4114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315017" y="0"/>
            <a:ext cx="4876678" cy="4114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640080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RESIDENCY JOURNEY  ·  IMG PATH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914400"/>
            <a:ext cx="11185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C2A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From medical school to Match Day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02920" y="1874520"/>
            <a:ext cx="5455768" cy="960120"/>
          </a:xfrm>
          <a:prstGeom prst="rect">
            <a:avLst/>
          </a:prstGeom>
          <a:solidFill>
            <a:srgbClr val="F5FBFF"/>
          </a:solidFill>
          <a:ln w="9525">
            <a:solidFill>
              <a:srgbClr val="D6E8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40080" y="2148840"/>
            <a:ext cx="411480" cy="411480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" y="21488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61288" y="1984248"/>
            <a:ext cx="46785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ECFMG eligibility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61288" y="2295144"/>
            <a:ext cx="4678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 school listed in the World Directory of Medical Schools with appropriate ECFMG Sponsor Note. Submit credentials to ECFMG.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3008" y="1874520"/>
            <a:ext cx="5455768" cy="960120"/>
          </a:xfrm>
          <a:prstGeom prst="rect">
            <a:avLst/>
          </a:prstGeom>
          <a:solidFill>
            <a:srgbClr val="F5FBFF"/>
          </a:solidFill>
          <a:ln w="9525">
            <a:solidFill>
              <a:srgbClr val="D6E8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6370168" y="2148840"/>
            <a:ext cx="411480" cy="411480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370168" y="21488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891376" y="1984248"/>
            <a:ext cx="46785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USMLE Step 1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91376" y="2295144"/>
            <a:ext cx="4678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(currently reported as Pass / Fail). Required for ECFMG Certification.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2926080"/>
            <a:ext cx="5455768" cy="960120"/>
          </a:xfrm>
          <a:prstGeom prst="rect">
            <a:avLst/>
          </a:prstGeom>
          <a:solidFill>
            <a:srgbClr val="F5FBFF"/>
          </a:solidFill>
          <a:ln w="9525">
            <a:solidFill>
              <a:srgbClr val="D6E8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40080" y="3200400"/>
            <a:ext cx="411480" cy="411480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40080" y="32004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161288" y="3035808"/>
            <a:ext cx="46785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USMLE Step 2 CK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61288" y="3346704"/>
            <a:ext cx="4678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with a strong scaled score. Reported scores range 1–300 (mean ≈ 248). Required for ECFMG Certification.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233008" y="2926080"/>
            <a:ext cx="5455768" cy="960120"/>
          </a:xfrm>
          <a:prstGeom prst="rect">
            <a:avLst/>
          </a:prstGeom>
          <a:solidFill>
            <a:srgbClr val="F5FBFF"/>
          </a:solidFill>
          <a:ln w="9525">
            <a:solidFill>
              <a:srgbClr val="D6E8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6370168" y="3200400"/>
            <a:ext cx="411480" cy="411480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370168" y="32004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6891376" y="3035808"/>
            <a:ext cx="46785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 proficiency (OET Medicine)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891376" y="3346704"/>
            <a:ext cx="4678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350+ on each of the 4 subtests within a single test administration.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02920" y="3977640"/>
            <a:ext cx="5455768" cy="960120"/>
          </a:xfrm>
          <a:prstGeom prst="rect">
            <a:avLst/>
          </a:prstGeom>
          <a:solidFill>
            <a:srgbClr val="F5FBFF"/>
          </a:solidFill>
          <a:ln w="9525">
            <a:solidFill>
              <a:srgbClr val="D6E8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640080" y="4251960"/>
            <a:ext cx="411480" cy="411480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40080" y="4251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161288" y="4087368"/>
            <a:ext cx="46785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ECFMG Certification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161288" y="4398264"/>
            <a:ext cx="4678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Issued after Step 1, Step 2 CK, OET, and verified medical credentials.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233008" y="3977640"/>
            <a:ext cx="5455768" cy="960120"/>
          </a:xfrm>
          <a:prstGeom prst="rect">
            <a:avLst/>
          </a:prstGeom>
          <a:solidFill>
            <a:srgbClr val="F5FBFF"/>
          </a:solidFill>
          <a:ln w="9525">
            <a:solidFill>
              <a:srgbClr val="D6E8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6370168" y="4251960"/>
            <a:ext cx="411480" cy="411480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6370168" y="4251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6891376" y="4087368"/>
            <a:ext cx="46785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ERAS application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891376" y="4398264"/>
            <a:ext cx="4678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through ERAS (opens early September). Personal statement, CV, LoRs, MSPE.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02920" y="5029200"/>
            <a:ext cx="5455768" cy="960120"/>
          </a:xfrm>
          <a:prstGeom prst="rect">
            <a:avLst/>
          </a:prstGeom>
          <a:solidFill>
            <a:srgbClr val="F5FBFF"/>
          </a:solidFill>
          <a:ln w="9525">
            <a:solidFill>
              <a:srgbClr val="D6E8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640080" y="5303520"/>
            <a:ext cx="411480" cy="411480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640080" y="5303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161288" y="5138928"/>
            <a:ext cx="46785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Interview season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1161288" y="5449824"/>
            <a:ext cx="4678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October to January. Programs review, interview, and rank applicants.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6233008" y="5029200"/>
            <a:ext cx="5455768" cy="960120"/>
          </a:xfrm>
          <a:prstGeom prst="rect">
            <a:avLst/>
          </a:prstGeom>
          <a:solidFill>
            <a:srgbClr val="F5FBFF"/>
          </a:solidFill>
          <a:ln w="9525">
            <a:solidFill>
              <a:srgbClr val="D6E8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6370168" y="5303520"/>
            <a:ext cx="411480" cy="411480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6370168" y="5303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6891376" y="5138928"/>
            <a:ext cx="46785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NRMP Match Day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6891376" y="5449824"/>
            <a:ext cx="4678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rank-order list in late February. Match results in mid-March.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02920" y="6217920"/>
            <a:ext cx="111858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ecfmg.org · USMLE.org · NRMP.org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02920" y="6492240"/>
            <a:ext cx="78300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Allan's USMLE Class · June Cohort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1114013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8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017" cy="411480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315017" y="0"/>
            <a:ext cx="4876678" cy="41148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640080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ROADMAP  ·  MYINTEALTH → STEP 2 CK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914400"/>
            <a:ext cx="11185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C2A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From account to exam — 8 concrete steps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02920" y="1874520"/>
            <a:ext cx="5455768" cy="1024128"/>
          </a:xfrm>
          <a:prstGeom prst="rect">
            <a:avLst/>
          </a:prstGeom>
          <a:solidFill>
            <a:srgbClr val="F5FBFF"/>
          </a:solidFill>
          <a:ln w="9525">
            <a:solidFill>
              <a:srgbClr val="D6E8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02920" y="1874520"/>
            <a:ext cx="91440" cy="1024128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04088" y="2148840"/>
            <a:ext cx="411480" cy="411480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04088" y="21488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16152" y="1965960"/>
            <a:ext cx="4084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 MyIntealth account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245456" y="19659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 10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216152" y="2295144"/>
            <a:ext cx="461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first. Name as on passport, DOB, address, school info, plus identity verification. One MyIntealth ID, forever.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33008" y="1874520"/>
            <a:ext cx="5455768" cy="1024128"/>
          </a:xfrm>
          <a:prstGeom prst="rect">
            <a:avLst/>
          </a:prstGeom>
          <a:solidFill>
            <a:srgbClr val="F5FBFF"/>
          </a:solidFill>
          <a:ln w="9525">
            <a:solidFill>
              <a:srgbClr val="D6E8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233008" y="1874520"/>
            <a:ext cx="91440" cy="1024128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434176" y="2148840"/>
            <a:ext cx="411480" cy="411480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434176" y="21488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946240" y="1965960"/>
            <a:ext cx="4084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name of record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975543" y="19659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 12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946240" y="2295144"/>
            <a:ext cx="461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match your passport exactly. Different name on diploma → submit verification documentation.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02920" y="2990088"/>
            <a:ext cx="5455768" cy="1024128"/>
          </a:xfrm>
          <a:prstGeom prst="rect">
            <a:avLst/>
          </a:prstGeom>
          <a:solidFill>
            <a:srgbClr val="F5FBFF"/>
          </a:solidFill>
          <a:ln w="9525">
            <a:solidFill>
              <a:srgbClr val="D6E8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502920" y="2990088"/>
            <a:ext cx="91440" cy="1024128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704088" y="3264408"/>
            <a:ext cx="411480" cy="411480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704088" y="326440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216152" y="3081528"/>
            <a:ext cx="4084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for ECFMG Cert.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245456" y="308152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 21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216152" y="3410712"/>
            <a:ext cx="461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fee. Medical school must be in the World Directory with ECFMG Sponsor Note (Graduation Years: Current). Track in My Cases.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233008" y="2990088"/>
            <a:ext cx="5455768" cy="1024128"/>
          </a:xfrm>
          <a:prstGeom prst="rect">
            <a:avLst/>
          </a:prstGeom>
          <a:solidFill>
            <a:srgbClr val="F5FBFF"/>
          </a:solidFill>
          <a:ln w="9525">
            <a:solidFill>
              <a:srgbClr val="D6E8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6233008" y="2990088"/>
            <a:ext cx="91440" cy="1024128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6434176" y="3264408"/>
            <a:ext cx="411480" cy="411480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6434176" y="326440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6946240" y="3081528"/>
            <a:ext cx="4084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medical credentials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0975543" y="308152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 34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946240" y="3410712"/>
            <a:ext cx="461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diploma + transcript (+ English translations). ECFMG verifies with the issuing institution before the application is accepted.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02920" y="4105656"/>
            <a:ext cx="5455768" cy="1024128"/>
          </a:xfrm>
          <a:prstGeom prst="rect">
            <a:avLst/>
          </a:prstGeom>
          <a:solidFill>
            <a:srgbClr val="F5FBFF"/>
          </a:solidFill>
          <a:ln w="9525">
            <a:solidFill>
              <a:srgbClr val="D6E8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502920" y="4105656"/>
            <a:ext cx="91440" cy="102412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704088" y="4379976"/>
            <a:ext cx="411480" cy="411480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704088" y="437997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1216152" y="4197096"/>
            <a:ext cx="4084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 your USMLE ID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245456" y="4197096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 10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216152" y="4526280"/>
            <a:ext cx="461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Since Jan 2026 USMLE Service Transition, FSMB issues this when you register for your first Step. View in My Profile.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6233008" y="4105656"/>
            <a:ext cx="5455768" cy="1024128"/>
          </a:xfrm>
          <a:prstGeom prst="rect">
            <a:avLst/>
          </a:prstGeom>
          <a:solidFill>
            <a:srgbClr val="F5FBFF"/>
          </a:solidFill>
          <a:ln w="9525">
            <a:solidFill>
              <a:srgbClr val="D6E8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6233008" y="4105656"/>
            <a:ext cx="91440" cy="102412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6434176" y="4379976"/>
            <a:ext cx="411480" cy="411480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6434176" y="437997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</a:t>
            </a:r>
            <a:endParaRPr lang="en-US" sz="1800" dirty="0"/>
          </a:p>
        </p:txBody>
      </p:sp>
      <p:sp>
        <p:nvSpPr>
          <p:cNvPr id="45" name="Text 43"/>
          <p:cNvSpPr/>
          <p:nvPr/>
        </p:nvSpPr>
        <p:spPr>
          <a:xfrm>
            <a:off x="6946240" y="4197096"/>
            <a:ext cx="4084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for USMLE Step 1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10975543" y="4197096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 26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6946240" y="4526280"/>
            <a:ext cx="461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 FSMB. FSMB confirms with ECFMG that you're eligible. Students need school official to certify enrollment.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502920" y="5221224"/>
            <a:ext cx="5455768" cy="1024128"/>
          </a:xfrm>
          <a:prstGeom prst="rect">
            <a:avLst/>
          </a:prstGeom>
          <a:solidFill>
            <a:srgbClr val="F5FBFF"/>
          </a:solidFill>
          <a:ln w="9525">
            <a:solidFill>
              <a:srgbClr val="D6E8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502920" y="5221224"/>
            <a:ext cx="91440" cy="102412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704088" y="5495544"/>
            <a:ext cx="411480" cy="411480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704088" y="549554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</a:t>
            </a:r>
            <a:endParaRPr lang="en-US" sz="1800" dirty="0"/>
          </a:p>
        </p:txBody>
      </p:sp>
      <p:sp>
        <p:nvSpPr>
          <p:cNvPr id="52" name="Text 50"/>
          <p:cNvSpPr/>
          <p:nvPr/>
        </p:nvSpPr>
        <p:spPr>
          <a:xfrm>
            <a:off x="1216152" y="5312664"/>
            <a:ext cx="4084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Step 1  ·  Pass / Fail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5245456" y="53126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1216152" y="5641848"/>
            <a:ext cx="461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USMLE shares the outcome directly with ECFMG. You don't need to forward the result yourself.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6233008" y="5221224"/>
            <a:ext cx="5455768" cy="1024128"/>
          </a:xfrm>
          <a:prstGeom prst="rect">
            <a:avLst/>
          </a:prstGeom>
          <a:solidFill>
            <a:srgbClr val="F5FBFF"/>
          </a:solidFill>
          <a:ln w="9525">
            <a:solidFill>
              <a:srgbClr val="D6E8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Shape 54"/>
          <p:cNvSpPr/>
          <p:nvPr/>
        </p:nvSpPr>
        <p:spPr>
          <a:xfrm>
            <a:off x="6233008" y="5221224"/>
            <a:ext cx="91440" cy="102412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Shape 55"/>
          <p:cNvSpPr/>
          <p:nvPr/>
        </p:nvSpPr>
        <p:spPr>
          <a:xfrm>
            <a:off x="6434176" y="5495544"/>
            <a:ext cx="411480" cy="411480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56"/>
          <p:cNvSpPr/>
          <p:nvPr/>
        </p:nvSpPr>
        <p:spPr>
          <a:xfrm>
            <a:off x="6434176" y="549554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</a:t>
            </a:r>
            <a:endParaRPr lang="en-US" sz="1800" dirty="0"/>
          </a:p>
        </p:txBody>
      </p:sp>
      <p:sp>
        <p:nvSpPr>
          <p:cNvPr id="59" name="Text 57"/>
          <p:cNvSpPr/>
          <p:nvPr/>
        </p:nvSpPr>
        <p:spPr>
          <a:xfrm>
            <a:off x="6946240" y="5312664"/>
            <a:ext cx="4084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for USMLE Step 2 CK</a:t>
            </a:r>
            <a:endParaRPr lang="en-US" sz="1400" dirty="0"/>
          </a:p>
        </p:txBody>
      </p:sp>
      <p:sp>
        <p:nvSpPr>
          <p:cNvPr id="60" name="Text 58"/>
          <p:cNvSpPr/>
          <p:nvPr/>
        </p:nvSpPr>
        <p:spPr>
          <a:xfrm>
            <a:off x="10975543" y="53126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 26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6946240" y="5641848"/>
            <a:ext cx="461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eligibility chain. Plan timing carefully — NRMP and GME programs have deadlines, and ECFMG warns slot availability isn't guaranteed.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502920" y="6217920"/>
            <a:ext cx="111858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ECFMG 2026 Information Booklet (page references in upper right of each card).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502920" y="6492240"/>
            <a:ext cx="78300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Allan's USMLE Class · June Cohort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1114013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8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017" cy="4114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315017" y="0"/>
            <a:ext cx="4876678" cy="4114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640080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PREP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914400"/>
            <a:ext cx="11185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C2A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Foundational sciences. Pass / Fail.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02920" y="1874520"/>
            <a:ext cx="469805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TESTED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2194560"/>
            <a:ext cx="378365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Applying foundational science concepts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286579" y="219456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60–70%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2920" y="2560320"/>
            <a:ext cx="378365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286579" y="256032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20–25%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02920" y="2926080"/>
            <a:ext cx="378365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 &amp; interpersonal skills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286579" y="292608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6–9%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" y="3291840"/>
            <a:ext cx="378365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Evidence-based medicine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286579" y="32918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4–6%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" y="3931920"/>
            <a:ext cx="469805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251960"/>
            <a:ext cx="36007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blocks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103699" y="42519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02920" y="4581144"/>
            <a:ext cx="36007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(max)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103699" y="458114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280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02920" y="4910328"/>
            <a:ext cx="36007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day length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103699" y="49103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hours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02920" y="5239512"/>
            <a:ext cx="36007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103699" y="523951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/ Fail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475299" y="1874520"/>
            <a:ext cx="62134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HIGH-YIELD CONTENT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75299" y="2194560"/>
            <a:ext cx="6213476" cy="1508760"/>
          </a:xfrm>
          <a:prstGeom prst="rect">
            <a:avLst/>
          </a:prstGeom>
          <a:solidFill>
            <a:srgbClr val="F5FBFF"/>
          </a:solidFill>
          <a:ln w="9525">
            <a:solidFill>
              <a:srgbClr val="D6E8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5475299" y="2194560"/>
            <a:ext cx="91440" cy="150876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749619" y="2331720"/>
            <a:ext cx="58477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749619" y="2651760"/>
            <a:ext cx="58477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Pathology · Physiology · Biochemistry · Pharmacology · Anatomy &amp; Embryology · Microbiology · Immunology · Histology · Behavioral Sciences · Genetics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475299" y="3886200"/>
            <a:ext cx="6213476" cy="1508760"/>
          </a:xfrm>
          <a:prstGeom prst="rect">
            <a:avLst/>
          </a:prstGeom>
          <a:solidFill>
            <a:srgbClr val="F5FBFF"/>
          </a:solidFill>
          <a:ln w="9525">
            <a:solidFill>
              <a:srgbClr val="D6E8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5475299" y="3886200"/>
            <a:ext cx="91440" cy="150876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5749619" y="4023360"/>
            <a:ext cx="58477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 systems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749619" y="4343400"/>
            <a:ext cx="58477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Principles · Cardiovascular · Respiratory · GI · Renal/Urinary · Reproductive &amp; Endocrine · MSK &amp; Skin · Nervous &amp; Behavioral · Heme &amp; Immune · Biostats &amp; Epi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02920" y="5989320"/>
            <a:ext cx="11185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i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approach: master First Aid + UWorld with daily Mon–Sun reps over a 4-month roadmap.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02920" y="6263640"/>
            <a:ext cx="111858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usmle.org Step 1 content outline + FA 2025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02920" y="6492240"/>
            <a:ext cx="78300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Allan's USMLE Class · June Cohort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14013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8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017" cy="4114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315017" y="0"/>
            <a:ext cx="4876678" cy="4114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640080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CK PREP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914400"/>
            <a:ext cx="11185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C2A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Clinical knowledge. Scaled score 1–300.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02920" y="1874520"/>
            <a:ext cx="469805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TESTED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2194560"/>
            <a:ext cx="37836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286579" y="21945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34–46%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2523744"/>
            <a:ext cx="37836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Pharmacotherapy &amp; management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86579" y="252374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26–38%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2852928"/>
            <a:ext cx="37836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maintenance &amp; prevention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286579" y="28529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8–12%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02920" y="3182112"/>
            <a:ext cx="37836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Ethics / professionalism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286579" y="31821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5–7%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02920" y="3511296"/>
            <a:ext cx="37836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safety / systems-based practice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286579" y="351129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5–7%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02920" y="4023360"/>
            <a:ext cx="469805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" y="4343400"/>
            <a:ext cx="33264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blocks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829379" y="4343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02920" y="4672584"/>
            <a:ext cx="33264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(max)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829379" y="46725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318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02920" y="5001768"/>
            <a:ext cx="33264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day length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829379" y="500176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hours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02920" y="5330952"/>
            <a:ext cx="33264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scale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829379" y="5330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– 300 (mean ≈ 248)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475299" y="1874520"/>
            <a:ext cx="62134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HIGH-YIELD CONTENT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75299" y="2194560"/>
            <a:ext cx="6213476" cy="1508760"/>
          </a:xfrm>
          <a:prstGeom prst="rect">
            <a:avLst/>
          </a:prstGeom>
          <a:solidFill>
            <a:srgbClr val="FEF3C7"/>
          </a:solidFill>
          <a:ln w="9525">
            <a:solidFill>
              <a:srgbClr val="EAB30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5475299" y="2194560"/>
            <a:ext cx="91440" cy="15087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5749619" y="2331720"/>
            <a:ext cx="58477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Disciplines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749619" y="2651760"/>
            <a:ext cx="58477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Medicine (50–60%) · Surgery (25–30%) · Pediatrics (20–25%) · OB-GYN (10–20%) · Psychiatry (10–15%) · Family Medicine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475299" y="3886200"/>
            <a:ext cx="6213476" cy="1508760"/>
          </a:xfrm>
          <a:prstGeom prst="rect">
            <a:avLst/>
          </a:prstGeom>
          <a:solidFill>
            <a:srgbClr val="FEF3C7"/>
          </a:solidFill>
          <a:ln w="9525">
            <a:solidFill>
              <a:srgbClr val="EAB30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5475299" y="3886200"/>
            <a:ext cx="91440" cy="15087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5749619" y="4023360"/>
            <a:ext cx="58477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 systems &amp; cross-cutting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749619" y="4343400"/>
            <a:ext cx="58477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Cardiovascular · GI · Respiratory · MSK &amp; Skin · Nervous &amp; Behavioral · Endocrine · Reproductive &amp; Pregnancy · Renal · Heme &amp; Immune · Multisystem · Ethics &amp; Patient Safety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02920" y="5989320"/>
            <a:ext cx="11185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approach: case-based teaching across all disciplines, daily UWorld blocks, full FA 2025 mapping.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02920" y="6263640"/>
            <a:ext cx="111858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usmle.org Step 2 CK content outline + FA 2025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02920" y="6492240"/>
            <a:ext cx="78300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Allan's USMLE Class · June Cohort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114013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8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017" cy="4114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315017" y="0"/>
            <a:ext cx="4876678" cy="4114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640080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CLASSES WORK  ·  PART 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914400"/>
            <a:ext cx="11185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C2A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Daily structure — Mon to Sun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3545738" cy="1097280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02920" y="2011680"/>
            <a:ext cx="35457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7598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Mon–Sun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02920" y="2606040"/>
            <a:ext cx="35457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classes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22978" y="1920240"/>
            <a:ext cx="3545738" cy="1097280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322978" y="2011680"/>
            <a:ext cx="35457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7598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 months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322978" y="2606040"/>
            <a:ext cx="35457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roadmap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43037" y="1920240"/>
            <a:ext cx="3545738" cy="1097280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143037" y="2011680"/>
            <a:ext cx="35457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7598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1 + 2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143037" y="2606040"/>
            <a:ext cx="35457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option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02920" y="3383280"/>
            <a:ext cx="2693594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blurRad="127000" dist="12700" dir="5400000" algn="bl" rotWithShape="0">
              <a:srgbClr val="0C2A3D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502920" y="3383280"/>
            <a:ext cx="2693594" cy="73152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777240" y="3657600"/>
            <a:ext cx="457200" cy="457200"/>
          </a:xfrm>
          <a:prstGeom prst="ellipse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777240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77240" y="4251960"/>
            <a:ext cx="21449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teaching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77240" y="4663440"/>
            <a:ext cx="21449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30–45 min focused teaching mapped page-by-page to First Aid 2025.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3333674" y="3383280"/>
            <a:ext cx="2693594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blurRad="127000" dist="12700" dir="5400000" algn="bl" rotWithShape="0">
              <a:srgbClr val="0C2A3D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3333674" y="3383280"/>
            <a:ext cx="269359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3607994" y="3657600"/>
            <a:ext cx="457200" cy="45720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3607994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3607994" y="4251960"/>
            <a:ext cx="21449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UWorld debrief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3607994" y="4663440"/>
            <a:ext cx="21449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through the day's UWorld block with reasoning for every option.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164428" y="3383280"/>
            <a:ext cx="2693594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blurRad="127000" dist="12700" dir="5400000" algn="bl" rotWithShape="0">
              <a:srgbClr val="0C2A3D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6164428" y="3383280"/>
            <a:ext cx="2693594" cy="73152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6438748" y="3657600"/>
            <a:ext cx="457200" cy="457200"/>
          </a:xfrm>
          <a:prstGeom prst="ellipse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6438748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6438748" y="4251960"/>
            <a:ext cx="21449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High-yield wrap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438748" y="4663440"/>
            <a:ext cx="21449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5-minute mnemonic / pearls recap that you take into the next day.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8995181" y="3383280"/>
            <a:ext cx="2693594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blurRad="127000" dist="12700" dir="5400000" algn="bl" rotWithShape="0">
              <a:srgbClr val="0C2A3D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8995181" y="3383280"/>
            <a:ext cx="269359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9269501" y="3657600"/>
            <a:ext cx="457200" cy="45720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9269501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9269501" y="4251960"/>
            <a:ext cx="21449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hours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9269501" y="4663440"/>
            <a:ext cx="21449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Q&amp;A outside class time for clarifying questions and weak areas.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502920" y="6492240"/>
            <a:ext cx="78300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Allan's USMLE Class · June Cohort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114013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8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017" cy="4114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315017" y="0"/>
            <a:ext cx="4876678" cy="4114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640080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CLASSES WORK  ·  PART 2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914400"/>
            <a:ext cx="11185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C2A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4-month roadmap + end-to-end mentorship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02920" y="1874520"/>
            <a:ext cx="2659304" cy="1417320"/>
          </a:xfrm>
          <a:prstGeom prst="rect">
            <a:avLst/>
          </a:prstGeom>
          <a:solidFill>
            <a:srgbClr val="F5FBFF"/>
          </a:solidFill>
          <a:ln w="9525">
            <a:solidFill>
              <a:srgbClr val="B8D6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02920" y="1874520"/>
            <a:ext cx="2659304" cy="329184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02920" y="1874520"/>
            <a:ext cx="2659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67512" y="2286000"/>
            <a:ext cx="233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Cardiovascular · Respiratory · General Pathology · Epi/Biostats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45104" y="1874520"/>
            <a:ext cx="2659304" cy="1417320"/>
          </a:xfrm>
          <a:prstGeom prst="rect">
            <a:avLst/>
          </a:prstGeom>
          <a:solidFill>
            <a:srgbClr val="F5FBFF"/>
          </a:solidFill>
          <a:ln w="9525">
            <a:solidFill>
              <a:srgbClr val="B8D6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345104" y="1874520"/>
            <a:ext cx="2659304" cy="329184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345104" y="1874520"/>
            <a:ext cx="2659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09696" y="2286000"/>
            <a:ext cx="233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Endocrine · GI · Heme/Onc · Renal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87288" y="1874520"/>
            <a:ext cx="2659304" cy="1417320"/>
          </a:xfrm>
          <a:prstGeom prst="rect">
            <a:avLst/>
          </a:prstGeom>
          <a:solidFill>
            <a:srgbClr val="F5FBFF"/>
          </a:solidFill>
          <a:ln w="9525">
            <a:solidFill>
              <a:srgbClr val="B8D6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187288" y="1874520"/>
            <a:ext cx="2659304" cy="329184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187288" y="1874520"/>
            <a:ext cx="2659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351880" y="2286000"/>
            <a:ext cx="233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Musculoskeletal · Neurology · Psychiatry · Reproductive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029471" y="1874520"/>
            <a:ext cx="2659304" cy="1417320"/>
          </a:xfrm>
          <a:prstGeom prst="rect">
            <a:avLst/>
          </a:prstGeom>
          <a:solidFill>
            <a:srgbClr val="F5FBFF"/>
          </a:solidFill>
          <a:ln w="9525">
            <a:solidFill>
              <a:srgbClr val="B8D6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9029471" y="1874520"/>
            <a:ext cx="2659304" cy="329184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9029471" y="1874520"/>
            <a:ext cx="2659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4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194063" y="2286000"/>
            <a:ext cx="233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/ Microbiology · Pharmacology · Behavioral · Mock blocks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02920" y="3657600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MENTORSHIP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02920" y="4023360"/>
            <a:ext cx="164592" cy="164592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77240" y="3968496"/>
            <a:ext cx="109115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ECFMG application — credentials submission, sponsor notes, EPIC.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02920" y="4407408"/>
            <a:ext cx="164592" cy="164592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777240" y="4352544"/>
            <a:ext cx="109115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statement &amp; CV review, with iterative drafts.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02920" y="4791456"/>
            <a:ext cx="164592" cy="164592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777240" y="4736592"/>
            <a:ext cx="109115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Interview prep — mock interviews, IMG-specific Q&amp;A, programs by signal.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02920" y="5175504"/>
            <a:ext cx="164592" cy="164592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777240" y="5120640"/>
            <a:ext cx="109115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ERAS / NRMP timeline coaching from application to rank list.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02920" y="5559552"/>
            <a:ext cx="164592" cy="164592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777240" y="5504688"/>
            <a:ext cx="109115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Step 1 + Step 2 expedited track for efficient overlap.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02920" y="6492240"/>
            <a:ext cx="78300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Allan's USMLE Class · June Cohort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114013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8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598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731520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spc="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JOIN THE COHORT?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02920" y="1188720"/>
            <a:ext cx="11185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Sign up · Limited slots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02920" y="2194560"/>
            <a:ext cx="11185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bakesiga.github.io/usmle-dashboard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4907280" y="2880360"/>
            <a:ext cx="237744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forms_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8720" y="2971800"/>
            <a:ext cx="2194560" cy="21945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5486400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E0F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reach Allan directly: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5852160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allanbakesiga@gmail.com   ·   WhatsApp +256 705 571 443   ·   Call +1 984 710 2902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502920" y="6492240"/>
            <a:ext cx="78300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B8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Allan's USMLE Class · June Cohort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114013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8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8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3551</TotalTime>
  <Words>1153</Words>
  <Application>Microsoft Macintosh PowerPoint</Application>
  <PresentationFormat>Widescreen</PresentationFormat>
  <Paragraphs>194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Arial Black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USMLE Info Session — June Cohort</dc:title>
  <dc:subject>PptxGenJS Presentation</dc:subject>
  <dc:creator>Allan Bakesiga</dc:creator>
  <cp:lastModifiedBy>Allan Bakesiga</cp:lastModifiedBy>
  <cp:revision>2</cp:revision>
  <dcterms:created xsi:type="dcterms:W3CDTF">2026-05-09T13:30:59Z</dcterms:created>
  <dcterms:modified xsi:type="dcterms:W3CDTF">2026-05-12T00:53:35Z</dcterms:modified>
</cp:coreProperties>
</file>