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705432" cy="685800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705432" y="0"/>
            <a:ext cx="5486263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822960"/>
            <a:ext cx="54252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USMLE INFO SESSION  ·  JUNE COHORT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207008"/>
            <a:ext cx="5425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 + Step 2 CK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1783080"/>
            <a:ext cx="54252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Info Session</a:t>
            </a:r>
            <a:endParaRPr lang="en-US" sz="6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5425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your questions about the cohort. Open Q&amp;A — no commitment.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5029200"/>
            <a:ext cx="2743200" cy="109728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5074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6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53492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MAY 9, 2026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40080" y="573328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AM EDT  ·  6 PM EAT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894152" y="1280160"/>
            <a:ext cx="3291840" cy="329184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13" name="Image 0" descr="allan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985592" y="1371600"/>
            <a:ext cx="3108960" cy="3108960"/>
          </a:xfrm>
          <a:prstGeom prst="ellipse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7071192" y="4754880"/>
            <a:ext cx="475474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7071192" y="5120640"/>
            <a:ext cx="47547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7071192" y="5376672"/>
            <a:ext cx="47547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PGY-1 Neurology Resident, Creighton University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7071192" y="5650992"/>
            <a:ext cx="475474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Assistant  |  Epi &amp; Biostats, Duke Global Health Institute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02920" y="6492240"/>
            <a:ext cx="78300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Allan's USMLE Class · June Cohort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1114013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7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017" cy="411480"/>
          </a:xfrm>
          <a:prstGeom prst="rect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017" y="0"/>
            <a:ext cx="4876678" cy="41148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4008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ROADMAP  ·  MYINTEALTH → STEP 2 CK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C2A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From account to exam — 8 concrete steps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02920" y="1874520"/>
            <a:ext cx="5455768" cy="1024128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874520"/>
            <a:ext cx="91440" cy="1024128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2148840"/>
            <a:ext cx="411480" cy="411480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4088" y="2148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16152" y="1965960"/>
            <a:ext cx="4084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 MyIntealth account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245456" y="19659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10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216152" y="2295144"/>
            <a:ext cx="461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first. Name as on passport, DOB, address, school info, plus identity verification. One MyIntealth ID, forever.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33008" y="1874520"/>
            <a:ext cx="5455768" cy="1024128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33008" y="1874520"/>
            <a:ext cx="91440" cy="1024128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34176" y="2148840"/>
            <a:ext cx="411480" cy="411480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34176" y="21488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946240" y="1965960"/>
            <a:ext cx="4084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name of record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975543" y="19659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12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946240" y="2295144"/>
            <a:ext cx="461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match your passport exactly. Different name on diploma → submit verification documentation.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2990088"/>
            <a:ext cx="5455768" cy="1024128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2920" y="2990088"/>
            <a:ext cx="91440" cy="1024128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04088" y="3264408"/>
            <a:ext cx="411480" cy="411480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4088" y="32644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216152" y="3081528"/>
            <a:ext cx="4084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for ECFMG Cert.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245456" y="30815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21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16152" y="3410712"/>
            <a:ext cx="461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fee. Medical school must be in the World Directory with ECFMG Sponsor Note (Graduation Years: Current). Track in My Cases.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233008" y="2990088"/>
            <a:ext cx="5455768" cy="1024128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233008" y="2990088"/>
            <a:ext cx="91440" cy="1024128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34176" y="3264408"/>
            <a:ext cx="411480" cy="411480"/>
          </a:xfrm>
          <a:prstGeom prst="ellipse">
            <a:avLst/>
          </a:prstGeom>
          <a:solidFill>
            <a:srgbClr val="075985"/>
          </a:solidFill>
          <a:ln w="12700">
            <a:solidFill>
              <a:srgbClr val="07598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34176" y="326440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6946240" y="3081528"/>
            <a:ext cx="4084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Submit medical credentials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975543" y="308152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34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946240" y="3410712"/>
            <a:ext cx="461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diploma + transcript (+ English translations). ECFMG verifies with the issuing institution before the application is accepted.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02920" y="4105656"/>
            <a:ext cx="5455768" cy="1024128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4105656"/>
            <a:ext cx="91440" cy="10241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04088" y="4379976"/>
            <a:ext cx="411480" cy="41148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04088" y="437997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1216152" y="4197096"/>
            <a:ext cx="4084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your USMLE ID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245456" y="419709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10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216152" y="4526280"/>
            <a:ext cx="461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Jan 2026 USMLE Service Transition, FSMB issues this when you register for your first Step. View in My Profile.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6233008" y="4105656"/>
            <a:ext cx="5455768" cy="1024128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33008" y="4105656"/>
            <a:ext cx="91440" cy="10241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34176" y="4379976"/>
            <a:ext cx="411480" cy="41148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34176" y="4379976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1800" dirty="0"/>
          </a:p>
        </p:txBody>
      </p:sp>
      <p:sp>
        <p:nvSpPr>
          <p:cNvPr id="45" name="Text 43"/>
          <p:cNvSpPr/>
          <p:nvPr/>
        </p:nvSpPr>
        <p:spPr>
          <a:xfrm>
            <a:off x="6946240" y="4197096"/>
            <a:ext cx="4084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for USMLE Step 1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0975543" y="4197096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26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6946240" y="4526280"/>
            <a:ext cx="461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FSMB. FSMB confirms with ECFMG that you're eligible. Students need school official to certify enrollment.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502920" y="5221224"/>
            <a:ext cx="5455768" cy="1024128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02920" y="5221224"/>
            <a:ext cx="91440" cy="10241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04088" y="5495544"/>
            <a:ext cx="411480" cy="41148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04088" y="54955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1216152" y="5312664"/>
            <a:ext cx="4084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Step 1  ·  Pass / Fail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5245456" y="5312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1216152" y="5641848"/>
            <a:ext cx="461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USMLE shares the outcome directly with ECFMG. You don't need to forward the result yourself.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6233008" y="5221224"/>
            <a:ext cx="5455768" cy="1024128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233008" y="5221224"/>
            <a:ext cx="91440" cy="102412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434176" y="5495544"/>
            <a:ext cx="411480" cy="411480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34176" y="54955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8</a:t>
            </a:r>
            <a:endParaRPr lang="en-US" sz="1800" dirty="0"/>
          </a:p>
        </p:txBody>
      </p:sp>
      <p:sp>
        <p:nvSpPr>
          <p:cNvPr id="59" name="Text 57"/>
          <p:cNvSpPr/>
          <p:nvPr/>
        </p:nvSpPr>
        <p:spPr>
          <a:xfrm>
            <a:off x="6946240" y="5312664"/>
            <a:ext cx="408416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for USMLE Step 2 CK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10975543" y="53126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p. 26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6946240" y="5641848"/>
            <a:ext cx="4614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eligibility chain. Plan timing carefully — NRMP and GME programs have deadlines, and ECFMG warns slot availability isn't guaranteed.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502920" y="6217920"/>
            <a:ext cx="11185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ECFMG 2026 Information Booklet (page references in upper right of each card).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02920" y="6492240"/>
            <a:ext cx="78300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Allan's USMLE Class · June Cohort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1114013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7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017" cy="4114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017" y="0"/>
            <a:ext cx="4876678" cy="4114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4008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PREP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C2A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Foundational sciences. Pass / Fail.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02920" y="1874520"/>
            <a:ext cx="469805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TESTED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2194560"/>
            <a:ext cx="37836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Applying foundational science concepts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86579" y="219456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60–70%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2560320"/>
            <a:ext cx="37836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286579" y="256032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20–25%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02920" y="2926080"/>
            <a:ext cx="37836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Communication &amp; interpersonal skills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286579" y="292608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6–9%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02920" y="3291840"/>
            <a:ext cx="37836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Evidence-based medicine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286579" y="329184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4–6%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02920" y="3931920"/>
            <a:ext cx="469805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4251960"/>
            <a:ext cx="36007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blocks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103699" y="42519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920" y="4581144"/>
            <a:ext cx="36007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(max)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103699" y="458114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4910328"/>
            <a:ext cx="36007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day length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03699" y="49103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hours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" y="5239512"/>
            <a:ext cx="36007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103699" y="523951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/ Fail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475299" y="1874520"/>
            <a:ext cx="62134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CONTENT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75299" y="2194560"/>
            <a:ext cx="6213476" cy="150876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75299" y="2194560"/>
            <a:ext cx="91440" cy="15087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749619" y="2331720"/>
            <a:ext cx="58477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749619" y="2651760"/>
            <a:ext cx="58477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Pathology · Physiology · Biochemistry · Pharmacology · Anatomy &amp; Embryology · Microbiology · Immunology · Histology · Behavioral Sciences · Genetics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475299" y="3886200"/>
            <a:ext cx="6213476" cy="150876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75299" y="3886200"/>
            <a:ext cx="91440" cy="150876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749619" y="4023360"/>
            <a:ext cx="58477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 systems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5749619" y="4343400"/>
            <a:ext cx="58477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Principles · Cardiovascular · Respiratory · GI · Renal/Urinary · Reproductive &amp; Endocrine · MSK &amp; Skin · Nervous &amp; Behavioral · Heme &amp; Immune · Biostats &amp; Epi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02920" y="598932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approach: master First Aid + UWorld with daily Mon–Sun reps over a 4-month roadmap.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02920" y="6263640"/>
            <a:ext cx="11185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usmle.org Step 1 content outline + FA 2025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02920" y="6492240"/>
            <a:ext cx="78300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Allan's USMLE Class · June Cohort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14013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7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017" cy="4114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017" y="0"/>
            <a:ext cx="4876678" cy="4114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4008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CK PREP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C2A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Clinical knowledge. Scaled score 1–300.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02920" y="1874520"/>
            <a:ext cx="469805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TESTED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2194560"/>
            <a:ext cx="37836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86579" y="21945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34–46%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2523744"/>
            <a:ext cx="37836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Pharmacotherapy &amp; management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286579" y="252374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26–38%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2852928"/>
            <a:ext cx="37836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maintenance &amp; prevention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286579" y="285292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8–12%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3182112"/>
            <a:ext cx="37836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/ professionalism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286579" y="31821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5–7%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02920" y="3511296"/>
            <a:ext cx="37836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safety / systems-based practice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286579" y="351129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5–7%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2920" y="4023360"/>
            <a:ext cx="469805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4343400"/>
            <a:ext cx="33264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blocks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3829379" y="43434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4672584"/>
            <a:ext cx="33264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(max)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3829379" y="467258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318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" y="5001768"/>
            <a:ext cx="33264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day length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829379" y="500176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hours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5330952"/>
            <a:ext cx="33264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scale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829379" y="533095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– 300 (mean ≈ 248)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75299" y="1874520"/>
            <a:ext cx="62134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CONTENT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75299" y="2194560"/>
            <a:ext cx="6213476" cy="1508760"/>
          </a:xfrm>
          <a:prstGeom prst="rect">
            <a:avLst/>
          </a:prstGeom>
          <a:solidFill>
            <a:srgbClr val="FEF3C7"/>
          </a:solidFill>
          <a:ln w="9525">
            <a:solidFill>
              <a:srgbClr val="EAB30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75299" y="2194560"/>
            <a:ext cx="91440" cy="15087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9619" y="2331720"/>
            <a:ext cx="58477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Disciplines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749619" y="2651760"/>
            <a:ext cx="58477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Medicine (50–60%) · Surgery (25–30%) · Pediatrics (20–25%) · OB-GYN (10–20%) · Psychiatry (10–15%) · Family Medicine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475299" y="3886200"/>
            <a:ext cx="6213476" cy="1508760"/>
          </a:xfrm>
          <a:prstGeom prst="rect">
            <a:avLst/>
          </a:prstGeom>
          <a:solidFill>
            <a:srgbClr val="FEF3C7"/>
          </a:solidFill>
          <a:ln w="9525">
            <a:solidFill>
              <a:srgbClr val="EAB30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75299" y="3886200"/>
            <a:ext cx="91440" cy="15087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749619" y="4023360"/>
            <a:ext cx="58477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 systems &amp; cross-cutting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749619" y="4343400"/>
            <a:ext cx="5847716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· GI · Respiratory · MSK &amp; Skin · Nervous &amp; Behavioral · Endocrine · Reproductive &amp; Pregnancy · Renal · Heme &amp; Immune · Multisystem · Ethics &amp; Patient Safety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02920" y="5989320"/>
            <a:ext cx="111858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approach: case-based teaching across all disciplines, daily UWorld blocks, full FA 2025 mapping.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02920" y="6263640"/>
            <a:ext cx="1118585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usmle.org Step 2 CK content outline + FA 2025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02920" y="6492240"/>
            <a:ext cx="78300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Allan's USMLE Class · June Cohort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114013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7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017" cy="4114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017" y="0"/>
            <a:ext cx="4876678" cy="4114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4008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CLASSES WORK  ·  PART 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C2A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Daily structure — Mon to Sun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02920" y="1920240"/>
            <a:ext cx="3545738" cy="109728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11680"/>
            <a:ext cx="35457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02920" y="2606040"/>
            <a:ext cx="3545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22978" y="1920240"/>
            <a:ext cx="3545738" cy="109728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22978" y="2011680"/>
            <a:ext cx="35457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months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322978" y="2606040"/>
            <a:ext cx="3545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43037" y="1920240"/>
            <a:ext cx="3545738" cy="1097280"/>
          </a:xfrm>
          <a:prstGeom prst="rect">
            <a:avLst/>
          </a:prstGeom>
          <a:solidFill>
            <a:srgbClr val="E0F2FE"/>
          </a:solidFill>
          <a:ln w="12700">
            <a:solidFill>
              <a:srgbClr val="E0F2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43037" y="2011680"/>
            <a:ext cx="354573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7598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 + 2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143037" y="2606040"/>
            <a:ext cx="35457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02920" y="3383280"/>
            <a:ext cx="2693594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27000" dist="12700" dir="5400000">
              <a:srgbClr val="0C2A3D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02920" y="3383280"/>
            <a:ext cx="2693594" cy="7315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3657600"/>
            <a:ext cx="457200" cy="457200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77240" y="425196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teaching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77240" y="466344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30–45 min focused teaching mapped page-by-page to First Aid 2025.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3333674" y="3383280"/>
            <a:ext cx="2693594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27000" dist="12700" dir="5400000">
              <a:srgbClr val="0C2A3D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333674" y="3383280"/>
            <a:ext cx="269359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07994" y="3657600"/>
            <a:ext cx="457200" cy="45720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07994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3607994" y="425196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UWorld debrief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3607994" y="466344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 through the day's UWorld block with reasoning for every option.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164428" y="3383280"/>
            <a:ext cx="2693594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27000" dist="12700" dir="5400000">
              <a:srgbClr val="0C2A3D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164428" y="3383280"/>
            <a:ext cx="2693594" cy="73152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38748" y="3657600"/>
            <a:ext cx="457200" cy="457200"/>
          </a:xfrm>
          <a:prstGeom prst="ellipse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38748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6438748" y="425196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High-yield wrap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438748" y="466344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5-minute mnemonic / pearls recap that you take into the next day.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8995181" y="3383280"/>
            <a:ext cx="2693594" cy="219456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27000" dist="12700" dir="5400000">
              <a:srgbClr val="0C2A3D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8995181" y="3383280"/>
            <a:ext cx="2693594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269501" y="3657600"/>
            <a:ext cx="457200" cy="457200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269501" y="3657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37" name="Text 35"/>
          <p:cNvSpPr/>
          <p:nvPr/>
        </p:nvSpPr>
        <p:spPr>
          <a:xfrm>
            <a:off x="9269501" y="4251960"/>
            <a:ext cx="214495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 hours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9269501" y="466344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Q&amp;A outside class time for clarifying questions and weak areas.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02920" y="6492240"/>
            <a:ext cx="78300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Allan's USMLE Class · June Cohort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14013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7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315017" cy="41148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315017" y="0"/>
            <a:ext cx="4876678" cy="4114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64008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028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CLASSES WORK  ·  PART 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91440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C2A3D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roadmap + end-to-end mentorship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502920" y="1874520"/>
            <a:ext cx="2659304" cy="1417320"/>
          </a:xfrm>
          <a:prstGeom prst="rect">
            <a:avLst/>
          </a:prstGeom>
          <a:solidFill>
            <a:srgbClr val="F5FBFF"/>
          </a:solidFill>
          <a:ln w="9525">
            <a:solidFill>
              <a:srgbClr val="B8D6E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874520"/>
            <a:ext cx="2659304" cy="329184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874520"/>
            <a:ext cx="2659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67512" y="2286000"/>
            <a:ext cx="233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Cardiovascular · Respiratory · General Pathology · Epi/Biostats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45104" y="1874520"/>
            <a:ext cx="2659304" cy="1417320"/>
          </a:xfrm>
          <a:prstGeom prst="rect">
            <a:avLst/>
          </a:prstGeom>
          <a:solidFill>
            <a:srgbClr val="F5FBFF"/>
          </a:solidFill>
          <a:ln w="9525">
            <a:solidFill>
              <a:srgbClr val="B8D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45104" y="1874520"/>
            <a:ext cx="2659304" cy="329184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45104" y="1874520"/>
            <a:ext cx="2659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09696" y="2286000"/>
            <a:ext cx="233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Endocrine · GI · Heme/Onc · Renal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187288" y="1874520"/>
            <a:ext cx="2659304" cy="1417320"/>
          </a:xfrm>
          <a:prstGeom prst="rect">
            <a:avLst/>
          </a:prstGeom>
          <a:solidFill>
            <a:srgbClr val="F5FBFF"/>
          </a:solidFill>
          <a:ln w="9525">
            <a:solidFill>
              <a:srgbClr val="B8D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87288" y="1874520"/>
            <a:ext cx="2659304" cy="329184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87288" y="1874520"/>
            <a:ext cx="2659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351880" y="2286000"/>
            <a:ext cx="233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Musculoskeletal · Neurology · Psychiatry · Reproductive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029471" y="1874520"/>
            <a:ext cx="2659304" cy="1417320"/>
          </a:xfrm>
          <a:prstGeom prst="rect">
            <a:avLst/>
          </a:prstGeom>
          <a:solidFill>
            <a:srgbClr val="F5FBFF"/>
          </a:solidFill>
          <a:ln w="9525">
            <a:solidFill>
              <a:srgbClr val="B8D6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29471" y="1874520"/>
            <a:ext cx="2659304" cy="329184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029471" y="1874520"/>
            <a:ext cx="26593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194063" y="2286000"/>
            <a:ext cx="23301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Immunology / Microbiology · Pharmacology · Behavioral · Mock blocks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02920" y="365760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02920" y="4023360"/>
            <a:ext cx="164592" cy="16459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77240" y="3968496"/>
            <a:ext cx="10911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ECFMG application — credentials submission, sponsor notes, EPIC.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02920" y="4407408"/>
            <a:ext cx="164592" cy="16459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" y="4352544"/>
            <a:ext cx="10911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statement &amp; CV review, with iterative drafts.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02920" y="4791456"/>
            <a:ext cx="164592" cy="16459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240" y="4736592"/>
            <a:ext cx="10911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 prep — mock interviews, IMG-specific Q&amp;A, programs by signal.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02920" y="5175504"/>
            <a:ext cx="164592" cy="16459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" y="5120640"/>
            <a:ext cx="10911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ERAS / NRMP timeline coaching from application to rank list.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02920" y="5559552"/>
            <a:ext cx="164592" cy="16459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77240" y="5504688"/>
            <a:ext cx="109115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Step 1 + Step 2 expedited track for efficient overlap.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502920" y="6492240"/>
            <a:ext cx="78300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Allan's USMLE Class · June Cohort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14013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7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598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73152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5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JOIN THE COHORT?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502920" y="1188720"/>
            <a:ext cx="1118585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Sign up · Limited slots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02920" y="2194560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4907128" y="3200400"/>
            <a:ext cx="237744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6" name="Image 0" descr="forms_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98568" y="3291840"/>
            <a:ext cx="2194560" cy="21945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5486400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reach Allan directly: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585216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   ·   WhatsApp +256 705 571 443   ·   Call +1 984 710 2902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502920" y="6492240"/>
            <a:ext cx="78300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8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Allan's USMLE Class · June Cohort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11140135" y="649224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B8D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7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Info Session — June Cohort</dc:title>
  <dc:subject>PptxGenJS Presentation</dc:subject>
  <dc:creator>Allan Bakesiga</dc:creator>
  <cp:lastModifiedBy>Allan Bakesiga</cp:lastModifiedBy>
  <cp:revision>1</cp:revision>
  <dcterms:created xsi:type="dcterms:W3CDTF">2026-05-09T14:34:26Z</dcterms:created>
  <dcterms:modified xsi:type="dcterms:W3CDTF">2026-05-09T14:34:26Z</dcterms:modified>
</cp:coreProperties>
</file>